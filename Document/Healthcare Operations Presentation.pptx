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84" r:id="rId4"/>
    <p:sldId id="258" r:id="rId5"/>
    <p:sldId id="298" r:id="rId6"/>
    <p:sldId id="299" r:id="rId7"/>
    <p:sldId id="262" r:id="rId8"/>
    <p:sldId id="263" r:id="rId9"/>
    <p:sldId id="260" r:id="rId10"/>
    <p:sldId id="261" r:id="rId11"/>
    <p:sldId id="285" r:id="rId12"/>
    <p:sldId id="264" r:id="rId13"/>
    <p:sldId id="313" r:id="rId14"/>
    <p:sldId id="314" r:id="rId15"/>
    <p:sldId id="309" r:id="rId16"/>
    <p:sldId id="310" r:id="rId17"/>
    <p:sldId id="315" r:id="rId18"/>
    <p:sldId id="316" r:id="rId19"/>
    <p:sldId id="311" r:id="rId20"/>
    <p:sldId id="312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07" r:id="rId31"/>
    <p:sldId id="326" r:id="rId32"/>
    <p:sldId id="269" r:id="rId33"/>
    <p:sldId id="281" r:id="rId34"/>
    <p:sldId id="300" r:id="rId35"/>
    <p:sldId id="295" r:id="rId36"/>
    <p:sldId id="296" r:id="rId37"/>
    <p:sldId id="297" r:id="rId38"/>
    <p:sldId id="27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0082"/>
    <a:srgbClr val="D9B3FF"/>
    <a:srgbClr val="6A0DAD"/>
    <a:srgbClr val="F3E6FF"/>
    <a:srgbClr val="E0F2FF"/>
    <a:srgbClr val="820000"/>
    <a:srgbClr val="ED8E8E"/>
    <a:srgbClr val="550000"/>
    <a:srgbClr val="EDE8D0"/>
    <a:srgbClr val="FDFB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13D50C-1A06-40C8-8BA3-B126AFE936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8F9DB3-A8B7-4172-A155-ED3F4A97B9A5}">
      <dgm:prSet/>
      <dgm:spPr/>
      <dgm:t>
        <a:bodyPr/>
        <a:lstStyle/>
        <a:p>
          <a:r>
            <a:rPr lang="en-US" b="1" dirty="0"/>
            <a:t>Healthcare Operations</a:t>
          </a:r>
        </a:p>
      </dgm:t>
    </dgm:pt>
    <dgm:pt modelId="{04999FD1-623C-4F3D-ACF8-7F0A6C00FC82}" type="parTrans" cxnId="{733E0C2E-6233-4911-A0C6-084FF9DD7B39}">
      <dgm:prSet/>
      <dgm:spPr/>
      <dgm:t>
        <a:bodyPr/>
        <a:lstStyle/>
        <a:p>
          <a:endParaRPr lang="en-US"/>
        </a:p>
      </dgm:t>
    </dgm:pt>
    <dgm:pt modelId="{D6A79AA5-DE71-4DD2-9224-7739A24860E2}" type="sibTrans" cxnId="{733E0C2E-6233-4911-A0C6-084FF9DD7B39}">
      <dgm:prSet/>
      <dgm:spPr/>
      <dgm:t>
        <a:bodyPr/>
        <a:lstStyle/>
        <a:p>
          <a:endParaRPr lang="en-US"/>
        </a:p>
      </dgm:t>
    </dgm:pt>
    <dgm:pt modelId="{D578FB2A-BC7D-40B5-BEFA-6028D390068C}">
      <dgm:prSet/>
      <dgm:spPr/>
      <dgm:t>
        <a:bodyPr/>
        <a:lstStyle/>
        <a:p>
          <a:r>
            <a:rPr lang="en-US" b="1" i="0" dirty="0"/>
            <a:t>Objective</a:t>
          </a:r>
          <a:endParaRPr lang="en-US" b="1" dirty="0"/>
        </a:p>
      </dgm:t>
    </dgm:pt>
    <dgm:pt modelId="{0FB66A67-F063-4C95-9770-A0E66B81427D}" type="parTrans" cxnId="{6B364CB2-C764-4685-8282-57E00F885555}">
      <dgm:prSet/>
      <dgm:spPr/>
      <dgm:t>
        <a:bodyPr/>
        <a:lstStyle/>
        <a:p>
          <a:endParaRPr lang="en-US"/>
        </a:p>
      </dgm:t>
    </dgm:pt>
    <dgm:pt modelId="{1B3A4AB3-A8C8-4BCA-ABFD-43D5DB068DD1}" type="sibTrans" cxnId="{6B364CB2-C764-4685-8282-57E00F885555}">
      <dgm:prSet/>
      <dgm:spPr/>
      <dgm:t>
        <a:bodyPr/>
        <a:lstStyle/>
        <a:p>
          <a:endParaRPr lang="en-US"/>
        </a:p>
      </dgm:t>
    </dgm:pt>
    <dgm:pt modelId="{4C004D03-47DF-4DDE-950C-40A1BFCF33E0}">
      <dgm:prSet/>
      <dgm:spPr/>
      <dgm:t>
        <a:bodyPr/>
        <a:lstStyle/>
        <a:p>
          <a:r>
            <a:rPr lang="en-US" b="1" dirty="0"/>
            <a:t>Data source</a:t>
          </a:r>
        </a:p>
      </dgm:t>
    </dgm:pt>
    <dgm:pt modelId="{6DD9862F-6A30-4A0D-A53E-8373B10524BA}" type="parTrans" cxnId="{4FF01453-F36F-472E-BD62-ACD7C76C0B0D}">
      <dgm:prSet/>
      <dgm:spPr/>
      <dgm:t>
        <a:bodyPr/>
        <a:lstStyle/>
        <a:p>
          <a:endParaRPr lang="en-US"/>
        </a:p>
      </dgm:t>
    </dgm:pt>
    <dgm:pt modelId="{3665F278-C5B9-4938-A32E-D1001FFEB57F}" type="sibTrans" cxnId="{4FF01453-F36F-472E-BD62-ACD7C76C0B0D}">
      <dgm:prSet/>
      <dgm:spPr/>
      <dgm:t>
        <a:bodyPr/>
        <a:lstStyle/>
        <a:p>
          <a:endParaRPr lang="en-US"/>
        </a:p>
      </dgm:t>
    </dgm:pt>
    <dgm:pt modelId="{1B48DCD9-A29D-4AC7-B52C-3E5793EF6FDE}">
      <dgm:prSet/>
      <dgm:spPr/>
      <dgm:t>
        <a:bodyPr/>
        <a:lstStyle/>
        <a:p>
          <a:r>
            <a:rPr lang="en-US" b="1" dirty="0"/>
            <a:t>Data cleaning summary</a:t>
          </a:r>
        </a:p>
      </dgm:t>
    </dgm:pt>
    <dgm:pt modelId="{1F98492E-09CB-4DD4-B21F-D5C04BEE42C8}" type="parTrans" cxnId="{0E9074E3-D0ED-4818-92DF-FAAC8C1AA867}">
      <dgm:prSet/>
      <dgm:spPr/>
      <dgm:t>
        <a:bodyPr/>
        <a:lstStyle/>
        <a:p>
          <a:endParaRPr lang="en-US"/>
        </a:p>
      </dgm:t>
    </dgm:pt>
    <dgm:pt modelId="{7F24CB63-116F-443B-AF24-19C9E793BD1A}" type="sibTrans" cxnId="{0E9074E3-D0ED-4818-92DF-FAAC8C1AA867}">
      <dgm:prSet/>
      <dgm:spPr/>
      <dgm:t>
        <a:bodyPr/>
        <a:lstStyle/>
        <a:p>
          <a:endParaRPr lang="en-US"/>
        </a:p>
      </dgm:t>
    </dgm:pt>
    <dgm:pt modelId="{FB83DCA0-FD46-4AAB-A389-1B718DB1EBBA}">
      <dgm:prSet/>
      <dgm:spPr/>
      <dgm:t>
        <a:bodyPr/>
        <a:lstStyle/>
        <a:p>
          <a:r>
            <a:rPr lang="en-US" b="1" dirty="0"/>
            <a:t>The story with data.</a:t>
          </a:r>
        </a:p>
      </dgm:t>
    </dgm:pt>
    <dgm:pt modelId="{4C7C1A5F-52CD-4777-96C2-CCBFF393180B}" type="parTrans" cxnId="{274CE22C-F7A1-4F17-B29E-C8BA242DE36E}">
      <dgm:prSet/>
      <dgm:spPr/>
      <dgm:t>
        <a:bodyPr/>
        <a:lstStyle/>
        <a:p>
          <a:endParaRPr lang="en-US"/>
        </a:p>
      </dgm:t>
    </dgm:pt>
    <dgm:pt modelId="{C608444B-B7DA-4EDA-8C04-F02F74D6BE22}" type="sibTrans" cxnId="{274CE22C-F7A1-4F17-B29E-C8BA242DE36E}">
      <dgm:prSet/>
      <dgm:spPr/>
      <dgm:t>
        <a:bodyPr/>
        <a:lstStyle/>
        <a:p>
          <a:endParaRPr lang="en-US"/>
        </a:p>
      </dgm:t>
    </dgm:pt>
    <dgm:pt modelId="{480600E0-8237-4974-90B0-FA4D8A1C5554}">
      <dgm:prSet/>
      <dgm:spPr/>
      <dgm:t>
        <a:bodyPr/>
        <a:lstStyle/>
        <a:p>
          <a:r>
            <a:rPr lang="en-US" b="1" dirty="0"/>
            <a:t>Conclusion</a:t>
          </a:r>
        </a:p>
      </dgm:t>
    </dgm:pt>
    <dgm:pt modelId="{4CA1DCAF-DF73-4114-9FAD-F3C0C6975D47}" type="parTrans" cxnId="{4469ED10-B73B-44A7-A2BF-766C526F1963}">
      <dgm:prSet/>
      <dgm:spPr/>
      <dgm:t>
        <a:bodyPr/>
        <a:lstStyle/>
        <a:p>
          <a:endParaRPr lang="en-US"/>
        </a:p>
      </dgm:t>
    </dgm:pt>
    <dgm:pt modelId="{41FE947D-D5BD-4C15-A124-B3C998AE27AE}" type="sibTrans" cxnId="{4469ED10-B73B-44A7-A2BF-766C526F1963}">
      <dgm:prSet/>
      <dgm:spPr/>
      <dgm:t>
        <a:bodyPr/>
        <a:lstStyle/>
        <a:p>
          <a:endParaRPr lang="en-US"/>
        </a:p>
      </dgm:t>
    </dgm:pt>
    <dgm:pt modelId="{C7F8027C-351D-495A-912B-61825F6DFC18}">
      <dgm:prSet/>
      <dgm:spPr/>
      <dgm:t>
        <a:bodyPr/>
        <a:lstStyle/>
        <a:p>
          <a:r>
            <a:rPr lang="en-US" b="1" dirty="0"/>
            <a:t>Recommendations</a:t>
          </a:r>
        </a:p>
      </dgm:t>
    </dgm:pt>
    <dgm:pt modelId="{7686D761-E299-44CA-9DA2-B61B1DD94B74}" type="parTrans" cxnId="{8A7BF138-88CC-47B1-A78A-C2986D2160AA}">
      <dgm:prSet/>
      <dgm:spPr/>
      <dgm:t>
        <a:bodyPr/>
        <a:lstStyle/>
        <a:p>
          <a:endParaRPr lang="en-US"/>
        </a:p>
      </dgm:t>
    </dgm:pt>
    <dgm:pt modelId="{D94E888B-BA50-4545-B219-CD44F33B1123}" type="sibTrans" cxnId="{8A7BF138-88CC-47B1-A78A-C2986D2160AA}">
      <dgm:prSet/>
      <dgm:spPr/>
      <dgm:t>
        <a:bodyPr/>
        <a:lstStyle/>
        <a:p>
          <a:endParaRPr lang="en-US"/>
        </a:p>
      </dgm:t>
    </dgm:pt>
    <dgm:pt modelId="{97CCB152-72FE-4B7B-B525-2DB1A14F5B99}">
      <dgm:prSet/>
      <dgm:spPr/>
      <dgm:t>
        <a:bodyPr/>
        <a:lstStyle/>
        <a:p>
          <a:r>
            <a:rPr lang="en-US" b="1" dirty="0"/>
            <a:t>Business Task</a:t>
          </a:r>
        </a:p>
      </dgm:t>
    </dgm:pt>
    <dgm:pt modelId="{D94EF65E-E18F-46AA-932C-0E2BA2EF1972}" type="parTrans" cxnId="{568F4A2F-9F56-4510-8AAD-FC14D04E04DC}">
      <dgm:prSet/>
      <dgm:spPr/>
      <dgm:t>
        <a:bodyPr/>
        <a:lstStyle/>
        <a:p>
          <a:endParaRPr lang="en-US"/>
        </a:p>
      </dgm:t>
    </dgm:pt>
    <dgm:pt modelId="{554080F2-4744-4637-8B6D-705F6B552017}" type="sibTrans" cxnId="{568F4A2F-9F56-4510-8AAD-FC14D04E04DC}">
      <dgm:prSet/>
      <dgm:spPr/>
      <dgm:t>
        <a:bodyPr/>
        <a:lstStyle/>
        <a:p>
          <a:endParaRPr lang="en-US"/>
        </a:p>
      </dgm:t>
    </dgm:pt>
    <dgm:pt modelId="{39B0369F-D483-4DEB-965D-CF8AE27C4756}" type="pres">
      <dgm:prSet presAssocID="{2A13D50C-1A06-40C8-8BA3-B126AFE9363E}" presName="linear" presStyleCnt="0">
        <dgm:presLayoutVars>
          <dgm:animLvl val="lvl"/>
          <dgm:resizeHandles val="exact"/>
        </dgm:presLayoutVars>
      </dgm:prSet>
      <dgm:spPr/>
    </dgm:pt>
    <dgm:pt modelId="{A572A294-EB4A-41F4-9BAF-4A038D434D5E}" type="pres">
      <dgm:prSet presAssocID="{C38F9DB3-A8B7-4172-A155-ED3F4A97B9A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BB9E41E-AEE1-4C07-83F2-915C1444F2F5}" type="pres">
      <dgm:prSet presAssocID="{C38F9DB3-A8B7-4172-A155-ED3F4A97B9A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469ED10-B73B-44A7-A2BF-766C526F1963}" srcId="{C38F9DB3-A8B7-4172-A155-ED3F4A97B9A5}" destId="{480600E0-8237-4974-90B0-FA4D8A1C5554}" srcOrd="5" destOrd="0" parTransId="{4CA1DCAF-DF73-4114-9FAD-F3C0C6975D47}" sibTransId="{41FE947D-D5BD-4C15-A124-B3C998AE27AE}"/>
    <dgm:cxn modelId="{F1A94615-231E-48C3-8297-93D0B54931A5}" type="presOf" srcId="{D578FB2A-BC7D-40B5-BEFA-6028D390068C}" destId="{7BB9E41E-AEE1-4C07-83F2-915C1444F2F5}" srcOrd="0" destOrd="0" presId="urn:microsoft.com/office/officeart/2005/8/layout/vList2"/>
    <dgm:cxn modelId="{274CE22C-F7A1-4F17-B29E-C8BA242DE36E}" srcId="{C38F9DB3-A8B7-4172-A155-ED3F4A97B9A5}" destId="{FB83DCA0-FD46-4AAB-A389-1B718DB1EBBA}" srcOrd="4" destOrd="0" parTransId="{4C7C1A5F-52CD-4777-96C2-CCBFF393180B}" sibTransId="{C608444B-B7DA-4EDA-8C04-F02F74D6BE22}"/>
    <dgm:cxn modelId="{733E0C2E-6233-4911-A0C6-084FF9DD7B39}" srcId="{2A13D50C-1A06-40C8-8BA3-B126AFE9363E}" destId="{C38F9DB3-A8B7-4172-A155-ED3F4A97B9A5}" srcOrd="0" destOrd="0" parTransId="{04999FD1-623C-4F3D-ACF8-7F0A6C00FC82}" sibTransId="{D6A79AA5-DE71-4DD2-9224-7739A24860E2}"/>
    <dgm:cxn modelId="{568F4A2F-9F56-4510-8AAD-FC14D04E04DC}" srcId="{C38F9DB3-A8B7-4172-A155-ED3F4A97B9A5}" destId="{97CCB152-72FE-4B7B-B525-2DB1A14F5B99}" srcOrd="1" destOrd="0" parTransId="{D94EF65E-E18F-46AA-932C-0E2BA2EF1972}" sibTransId="{554080F2-4744-4637-8B6D-705F6B552017}"/>
    <dgm:cxn modelId="{8A7BF138-88CC-47B1-A78A-C2986D2160AA}" srcId="{C38F9DB3-A8B7-4172-A155-ED3F4A97B9A5}" destId="{C7F8027C-351D-495A-912B-61825F6DFC18}" srcOrd="6" destOrd="0" parTransId="{7686D761-E299-44CA-9DA2-B61B1DD94B74}" sibTransId="{D94E888B-BA50-4545-B219-CD44F33B1123}"/>
    <dgm:cxn modelId="{80521639-C6DC-4E9C-8261-EFE7837860D8}" type="presOf" srcId="{4C004D03-47DF-4DDE-950C-40A1BFCF33E0}" destId="{7BB9E41E-AEE1-4C07-83F2-915C1444F2F5}" srcOrd="0" destOrd="2" presId="urn:microsoft.com/office/officeart/2005/8/layout/vList2"/>
    <dgm:cxn modelId="{25E91E5E-9AE4-4F3F-9663-79E2B34CC6D2}" type="presOf" srcId="{2A13D50C-1A06-40C8-8BA3-B126AFE9363E}" destId="{39B0369F-D483-4DEB-965D-CF8AE27C4756}" srcOrd="0" destOrd="0" presId="urn:microsoft.com/office/officeart/2005/8/layout/vList2"/>
    <dgm:cxn modelId="{A7D65E4E-D51E-44A9-BDE9-BDA2F41E2B6A}" type="presOf" srcId="{FB83DCA0-FD46-4AAB-A389-1B718DB1EBBA}" destId="{7BB9E41E-AEE1-4C07-83F2-915C1444F2F5}" srcOrd="0" destOrd="4" presId="urn:microsoft.com/office/officeart/2005/8/layout/vList2"/>
    <dgm:cxn modelId="{4FF01453-F36F-472E-BD62-ACD7C76C0B0D}" srcId="{C38F9DB3-A8B7-4172-A155-ED3F4A97B9A5}" destId="{4C004D03-47DF-4DDE-950C-40A1BFCF33E0}" srcOrd="2" destOrd="0" parTransId="{6DD9862F-6A30-4A0D-A53E-8373B10524BA}" sibTransId="{3665F278-C5B9-4938-A32E-D1001FFEB57F}"/>
    <dgm:cxn modelId="{4145C07F-B37C-4328-A7B1-8B50506D9FC2}" type="presOf" srcId="{C38F9DB3-A8B7-4172-A155-ED3F4A97B9A5}" destId="{A572A294-EB4A-41F4-9BAF-4A038D434D5E}" srcOrd="0" destOrd="0" presId="urn:microsoft.com/office/officeart/2005/8/layout/vList2"/>
    <dgm:cxn modelId="{0CC88295-14A3-4557-8F33-9134878D641F}" type="presOf" srcId="{480600E0-8237-4974-90B0-FA4D8A1C5554}" destId="{7BB9E41E-AEE1-4C07-83F2-915C1444F2F5}" srcOrd="0" destOrd="5" presId="urn:microsoft.com/office/officeart/2005/8/layout/vList2"/>
    <dgm:cxn modelId="{DB6582AC-43ED-4ABF-BD9D-A67FE0356EBB}" type="presOf" srcId="{C7F8027C-351D-495A-912B-61825F6DFC18}" destId="{7BB9E41E-AEE1-4C07-83F2-915C1444F2F5}" srcOrd="0" destOrd="6" presId="urn:microsoft.com/office/officeart/2005/8/layout/vList2"/>
    <dgm:cxn modelId="{6B364CB2-C764-4685-8282-57E00F885555}" srcId="{C38F9DB3-A8B7-4172-A155-ED3F4A97B9A5}" destId="{D578FB2A-BC7D-40B5-BEFA-6028D390068C}" srcOrd="0" destOrd="0" parTransId="{0FB66A67-F063-4C95-9770-A0E66B81427D}" sibTransId="{1B3A4AB3-A8C8-4BCA-ABFD-43D5DB068DD1}"/>
    <dgm:cxn modelId="{210FC7CC-9B46-44A1-81F1-623AE9F0AB85}" type="presOf" srcId="{1B48DCD9-A29D-4AC7-B52C-3E5793EF6FDE}" destId="{7BB9E41E-AEE1-4C07-83F2-915C1444F2F5}" srcOrd="0" destOrd="3" presId="urn:microsoft.com/office/officeart/2005/8/layout/vList2"/>
    <dgm:cxn modelId="{0E9074E3-D0ED-4818-92DF-FAAC8C1AA867}" srcId="{C38F9DB3-A8B7-4172-A155-ED3F4A97B9A5}" destId="{1B48DCD9-A29D-4AC7-B52C-3E5793EF6FDE}" srcOrd="3" destOrd="0" parTransId="{1F98492E-09CB-4DD4-B21F-D5C04BEE42C8}" sibTransId="{7F24CB63-116F-443B-AF24-19C9E793BD1A}"/>
    <dgm:cxn modelId="{CD956BE9-3C7B-441E-B879-191EA1451E68}" type="presOf" srcId="{97CCB152-72FE-4B7B-B525-2DB1A14F5B99}" destId="{7BB9E41E-AEE1-4C07-83F2-915C1444F2F5}" srcOrd="0" destOrd="1" presId="urn:microsoft.com/office/officeart/2005/8/layout/vList2"/>
    <dgm:cxn modelId="{009280DE-4458-4290-9451-C0496E4C706D}" type="presParOf" srcId="{39B0369F-D483-4DEB-965D-CF8AE27C4756}" destId="{A572A294-EB4A-41F4-9BAF-4A038D434D5E}" srcOrd="0" destOrd="0" presId="urn:microsoft.com/office/officeart/2005/8/layout/vList2"/>
    <dgm:cxn modelId="{57E4BA1C-6F03-4B17-AC5B-CA1E2ED9B1BB}" type="presParOf" srcId="{39B0369F-D483-4DEB-965D-CF8AE27C4756}" destId="{7BB9E41E-AEE1-4C07-83F2-915C1444F2F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F66393-E70F-4759-A8F7-9E7B2DE2D8AF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73CB59-A7E2-4F6A-A75C-8BEDA0972D5B}">
      <dgm:prSet/>
      <dgm:spPr/>
      <dgm:t>
        <a:bodyPr/>
        <a:lstStyle/>
        <a:p>
          <a:r>
            <a:rPr lang="en-US" dirty="0"/>
            <a:t>Analyze Appointment Data across clinic locations, patient profiles, and scheduling timeframes.</a:t>
          </a:r>
        </a:p>
      </dgm:t>
    </dgm:pt>
    <dgm:pt modelId="{9EAC9026-360E-4DCD-987F-DFFE259D861D}" type="parTrans" cxnId="{B3EE52F3-AF17-465A-8EE8-1FB5552041F2}">
      <dgm:prSet/>
      <dgm:spPr/>
      <dgm:t>
        <a:bodyPr/>
        <a:lstStyle/>
        <a:p>
          <a:endParaRPr lang="en-US"/>
        </a:p>
      </dgm:t>
    </dgm:pt>
    <dgm:pt modelId="{CBC41542-FEFB-48C1-8908-9A4BE1C297B3}" type="sibTrans" cxnId="{B3EE52F3-AF17-465A-8EE8-1FB5552041F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95AE9D7-2E9F-4454-9F61-AE9F3DDCC20F}">
      <dgm:prSet/>
      <dgm:spPr/>
      <dgm:t>
        <a:bodyPr/>
        <a:lstStyle/>
        <a:p>
          <a:r>
            <a:rPr lang="en-US" dirty="0"/>
            <a:t>Identify High-Risk Segments and underperforming clinics based on missed appointment volume and lost revenue.</a:t>
          </a:r>
        </a:p>
      </dgm:t>
    </dgm:pt>
    <dgm:pt modelId="{9F402555-5F9E-48FE-A625-C8AEA28A4897}" type="parTrans" cxnId="{507243B6-7577-427B-A47C-8F024DD81D40}">
      <dgm:prSet/>
      <dgm:spPr/>
      <dgm:t>
        <a:bodyPr/>
        <a:lstStyle/>
        <a:p>
          <a:endParaRPr lang="en-US"/>
        </a:p>
      </dgm:t>
    </dgm:pt>
    <dgm:pt modelId="{04432F54-52D4-441B-BE62-C55103214D17}" type="sibTrans" cxnId="{507243B6-7577-427B-A47C-8F024DD81D4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B47A3364-EEA8-4C02-B11A-46E6D3B89F3F}">
      <dgm:prSet/>
      <dgm:spPr/>
      <dgm:t>
        <a:bodyPr/>
        <a:lstStyle/>
        <a:p>
          <a:r>
            <a:rPr lang="en-US" dirty="0"/>
            <a:t>Determine Logistical Priorities by ranking the impact of wait times and SMS communication gaps on attendance.</a:t>
          </a:r>
        </a:p>
      </dgm:t>
    </dgm:pt>
    <dgm:pt modelId="{1C743B61-FB9D-4AD4-84A8-1D004BB679CE}" type="parTrans" cxnId="{E3C8A61E-FEC2-4024-AF2A-F85C3D0F6398}">
      <dgm:prSet/>
      <dgm:spPr/>
      <dgm:t>
        <a:bodyPr/>
        <a:lstStyle/>
        <a:p>
          <a:endParaRPr lang="en-US"/>
        </a:p>
      </dgm:t>
    </dgm:pt>
    <dgm:pt modelId="{2CC28B61-CF12-475A-B3F2-CB76E2EACBB1}" type="sibTrans" cxnId="{E3C8A61E-FEC2-4024-AF2A-F85C3D0F639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255DF11-0805-48D2-ACF4-9F5FB235A641}">
      <dgm:prSet/>
      <dgm:spPr/>
      <dgm:t>
        <a:bodyPr/>
        <a:lstStyle/>
        <a:p>
          <a:r>
            <a:rPr lang="en-US" dirty="0"/>
            <a:t>Examine Attendance Trends to detect weekly patterns, such as significant operational waste occurring on Fridays.</a:t>
          </a:r>
        </a:p>
      </dgm:t>
    </dgm:pt>
    <dgm:pt modelId="{7E3E01AE-E18E-469E-A192-1373AFE9A425}" type="parTrans" cxnId="{B5774C87-B56B-4A71-B8E3-FF3143951A00}">
      <dgm:prSet/>
      <dgm:spPr/>
      <dgm:t>
        <a:bodyPr/>
        <a:lstStyle/>
        <a:p>
          <a:endParaRPr lang="en-US"/>
        </a:p>
      </dgm:t>
    </dgm:pt>
    <dgm:pt modelId="{045B80EB-818C-4C6A-93A1-580F5FC210FE}" type="sibTrans" cxnId="{B5774C87-B56B-4A71-B8E3-FF3143951A00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8E04BBF-784D-4E48-879D-4C4A40034D4A}">
      <dgm:prSet/>
      <dgm:spPr/>
      <dgm:t>
        <a:bodyPr/>
        <a:lstStyle/>
        <a:p>
          <a:r>
            <a:rPr lang="en-US" dirty="0"/>
            <a:t>Provide Data-Driven Insights to support strategic scheduling, resource optimization, and financial recovery decisions.</a:t>
          </a:r>
        </a:p>
      </dgm:t>
    </dgm:pt>
    <dgm:pt modelId="{206C42E8-5C49-4449-BED6-3660556CA70D}" type="parTrans" cxnId="{1D49808D-957A-4B03-A845-CA5598B4E014}">
      <dgm:prSet/>
      <dgm:spPr/>
      <dgm:t>
        <a:bodyPr/>
        <a:lstStyle/>
        <a:p>
          <a:endParaRPr lang="en-US"/>
        </a:p>
      </dgm:t>
    </dgm:pt>
    <dgm:pt modelId="{30F09AB7-0EEF-4998-A990-4945FFF24D1E}" type="sibTrans" cxnId="{1D49808D-957A-4B03-A845-CA5598B4E014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69BB15F9-C005-425D-99EE-BD6B80FCF919}" type="pres">
      <dgm:prSet presAssocID="{43F66393-E70F-4759-A8F7-9E7B2DE2D8AF}" presName="linearFlow" presStyleCnt="0">
        <dgm:presLayoutVars>
          <dgm:dir/>
          <dgm:animLvl val="lvl"/>
          <dgm:resizeHandles val="exact"/>
        </dgm:presLayoutVars>
      </dgm:prSet>
      <dgm:spPr/>
    </dgm:pt>
    <dgm:pt modelId="{47085C6B-381F-49D6-AD26-B717E3B7C4AD}" type="pres">
      <dgm:prSet presAssocID="{FC73CB59-A7E2-4F6A-A75C-8BEDA0972D5B}" presName="compositeNode" presStyleCnt="0"/>
      <dgm:spPr/>
    </dgm:pt>
    <dgm:pt modelId="{8584B919-14E1-47B5-911A-F172FE948791}" type="pres">
      <dgm:prSet presAssocID="{FC73CB59-A7E2-4F6A-A75C-8BEDA0972D5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52F3BBA-C489-40B7-B8F4-C5C7B6B34B57}" type="pres">
      <dgm:prSet presAssocID="{FC73CB59-A7E2-4F6A-A75C-8BEDA0972D5B}" presName="parSh" presStyleCnt="0"/>
      <dgm:spPr/>
    </dgm:pt>
    <dgm:pt modelId="{B5CEDDFA-ECD7-4400-A32D-23EAADA29A8B}" type="pres">
      <dgm:prSet presAssocID="{FC73CB59-A7E2-4F6A-A75C-8BEDA0972D5B}" presName="lineNode" presStyleLbl="alignAccFollowNode1" presStyleIdx="0" presStyleCnt="15"/>
      <dgm:spPr/>
    </dgm:pt>
    <dgm:pt modelId="{B00A67A6-B9BA-41B8-AE71-EDAF73D15450}" type="pres">
      <dgm:prSet presAssocID="{FC73CB59-A7E2-4F6A-A75C-8BEDA0972D5B}" presName="lineArrowNode" presStyleLbl="alignAccFollowNode1" presStyleIdx="1" presStyleCnt="15"/>
      <dgm:spPr/>
    </dgm:pt>
    <dgm:pt modelId="{A2CBF28C-5887-422A-9096-0AADB59BD124}" type="pres">
      <dgm:prSet presAssocID="{CBC41542-FEFB-48C1-8908-9A4BE1C297B3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817B6D53-F0D7-494A-9CBE-F29688ED4FF1}" type="pres">
      <dgm:prSet presAssocID="{CBC41542-FEFB-48C1-8908-9A4BE1C297B3}" presName="spacerBetweenCircleAndCallout" presStyleCnt="0">
        <dgm:presLayoutVars/>
      </dgm:prSet>
      <dgm:spPr/>
    </dgm:pt>
    <dgm:pt modelId="{4B9946DA-BF21-4861-A383-D01DF4F3C79E}" type="pres">
      <dgm:prSet presAssocID="{FC73CB59-A7E2-4F6A-A75C-8BEDA0972D5B}" presName="nodeText" presStyleLbl="alignAccFollowNode1" presStyleIdx="2" presStyleCnt="15">
        <dgm:presLayoutVars>
          <dgm:bulletEnabled val="1"/>
        </dgm:presLayoutVars>
      </dgm:prSet>
      <dgm:spPr/>
    </dgm:pt>
    <dgm:pt modelId="{E2385CFC-D4C8-4B59-8689-AEBD3451991C}" type="pres">
      <dgm:prSet presAssocID="{CBC41542-FEFB-48C1-8908-9A4BE1C297B3}" presName="sibTransComposite" presStyleCnt="0"/>
      <dgm:spPr/>
    </dgm:pt>
    <dgm:pt modelId="{ED6D74AD-8C1E-45D4-B836-518EAF70A5A2}" type="pres">
      <dgm:prSet presAssocID="{195AE9D7-2E9F-4454-9F61-AE9F3DDCC20F}" presName="compositeNode" presStyleCnt="0"/>
      <dgm:spPr/>
    </dgm:pt>
    <dgm:pt modelId="{0CA7EA23-EB47-4C0F-AF8A-10DD1F8EA836}" type="pres">
      <dgm:prSet presAssocID="{195AE9D7-2E9F-4454-9F61-AE9F3DDCC20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C4D7F61-5785-41E2-867A-480FE093C6D5}" type="pres">
      <dgm:prSet presAssocID="{195AE9D7-2E9F-4454-9F61-AE9F3DDCC20F}" presName="parSh" presStyleCnt="0"/>
      <dgm:spPr/>
    </dgm:pt>
    <dgm:pt modelId="{7E6724B9-2D32-4014-AE41-F3A25D10D593}" type="pres">
      <dgm:prSet presAssocID="{195AE9D7-2E9F-4454-9F61-AE9F3DDCC20F}" presName="lineNode" presStyleLbl="alignAccFollowNode1" presStyleIdx="3" presStyleCnt="15"/>
      <dgm:spPr/>
    </dgm:pt>
    <dgm:pt modelId="{06677B12-ADEB-45DB-8DB1-663337E900CE}" type="pres">
      <dgm:prSet presAssocID="{195AE9D7-2E9F-4454-9F61-AE9F3DDCC20F}" presName="lineArrowNode" presStyleLbl="alignAccFollowNode1" presStyleIdx="4" presStyleCnt="15"/>
      <dgm:spPr/>
    </dgm:pt>
    <dgm:pt modelId="{167C1473-BE50-4F1C-9216-2A9FCECCF055}" type="pres">
      <dgm:prSet presAssocID="{04432F54-52D4-441B-BE62-C55103214D17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E7A32BFE-1156-4028-9477-11ED5AD014AA}" type="pres">
      <dgm:prSet presAssocID="{04432F54-52D4-441B-BE62-C55103214D17}" presName="spacerBetweenCircleAndCallout" presStyleCnt="0">
        <dgm:presLayoutVars/>
      </dgm:prSet>
      <dgm:spPr/>
    </dgm:pt>
    <dgm:pt modelId="{A5677C2E-2BA4-47EB-8CAE-3B566FE8E8F2}" type="pres">
      <dgm:prSet presAssocID="{195AE9D7-2E9F-4454-9F61-AE9F3DDCC20F}" presName="nodeText" presStyleLbl="alignAccFollowNode1" presStyleIdx="5" presStyleCnt="15">
        <dgm:presLayoutVars>
          <dgm:bulletEnabled val="1"/>
        </dgm:presLayoutVars>
      </dgm:prSet>
      <dgm:spPr/>
    </dgm:pt>
    <dgm:pt modelId="{F9C55FDD-3348-4A6B-A2E2-44804A68964F}" type="pres">
      <dgm:prSet presAssocID="{04432F54-52D4-441B-BE62-C55103214D17}" presName="sibTransComposite" presStyleCnt="0"/>
      <dgm:spPr/>
    </dgm:pt>
    <dgm:pt modelId="{D710F5F7-CE45-4925-9612-A88836FEEDFA}" type="pres">
      <dgm:prSet presAssocID="{B47A3364-EEA8-4C02-B11A-46E6D3B89F3F}" presName="compositeNode" presStyleCnt="0"/>
      <dgm:spPr/>
    </dgm:pt>
    <dgm:pt modelId="{95A149BF-7CA5-4B0A-97DE-533C6549E38E}" type="pres">
      <dgm:prSet presAssocID="{B47A3364-EEA8-4C02-B11A-46E6D3B89F3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19B64E2-6D7A-4646-A0E6-2FF6B0DBE089}" type="pres">
      <dgm:prSet presAssocID="{B47A3364-EEA8-4C02-B11A-46E6D3B89F3F}" presName="parSh" presStyleCnt="0"/>
      <dgm:spPr/>
    </dgm:pt>
    <dgm:pt modelId="{72780815-20FB-45F4-95C1-CC163E94B690}" type="pres">
      <dgm:prSet presAssocID="{B47A3364-EEA8-4C02-B11A-46E6D3B89F3F}" presName="lineNode" presStyleLbl="alignAccFollowNode1" presStyleIdx="6" presStyleCnt="15"/>
      <dgm:spPr/>
    </dgm:pt>
    <dgm:pt modelId="{CD1BD725-1B4E-4ABA-BEFC-7EF0C902AF29}" type="pres">
      <dgm:prSet presAssocID="{B47A3364-EEA8-4C02-B11A-46E6D3B89F3F}" presName="lineArrowNode" presStyleLbl="alignAccFollowNode1" presStyleIdx="7" presStyleCnt="15"/>
      <dgm:spPr/>
    </dgm:pt>
    <dgm:pt modelId="{2802FDF5-4AAB-4678-B2B8-F1290CEE84CF}" type="pres">
      <dgm:prSet presAssocID="{2CC28B61-CF12-475A-B3F2-CB76E2EACBB1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A02ACB9C-A61A-4193-823D-BCC8A86C71A5}" type="pres">
      <dgm:prSet presAssocID="{2CC28B61-CF12-475A-B3F2-CB76E2EACBB1}" presName="spacerBetweenCircleAndCallout" presStyleCnt="0">
        <dgm:presLayoutVars/>
      </dgm:prSet>
      <dgm:spPr/>
    </dgm:pt>
    <dgm:pt modelId="{C5E7B41A-312D-4CFF-BF49-4A5631B4B810}" type="pres">
      <dgm:prSet presAssocID="{B47A3364-EEA8-4C02-B11A-46E6D3B89F3F}" presName="nodeText" presStyleLbl="alignAccFollowNode1" presStyleIdx="8" presStyleCnt="15">
        <dgm:presLayoutVars>
          <dgm:bulletEnabled val="1"/>
        </dgm:presLayoutVars>
      </dgm:prSet>
      <dgm:spPr/>
    </dgm:pt>
    <dgm:pt modelId="{0B17B86E-2BA5-401D-AC24-387D7BA29398}" type="pres">
      <dgm:prSet presAssocID="{2CC28B61-CF12-475A-B3F2-CB76E2EACBB1}" presName="sibTransComposite" presStyleCnt="0"/>
      <dgm:spPr/>
    </dgm:pt>
    <dgm:pt modelId="{748E356F-9F61-48DB-A343-4E1A60935E7E}" type="pres">
      <dgm:prSet presAssocID="{9255DF11-0805-48D2-ACF4-9F5FB235A641}" presName="compositeNode" presStyleCnt="0"/>
      <dgm:spPr/>
    </dgm:pt>
    <dgm:pt modelId="{25E779F7-08A4-46B3-8339-B9A31D6EE944}" type="pres">
      <dgm:prSet presAssocID="{9255DF11-0805-48D2-ACF4-9F5FB235A64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B78F6B5-59B0-4E7C-B8F3-872BC3F1BD3B}" type="pres">
      <dgm:prSet presAssocID="{9255DF11-0805-48D2-ACF4-9F5FB235A641}" presName="parSh" presStyleCnt="0"/>
      <dgm:spPr/>
    </dgm:pt>
    <dgm:pt modelId="{58C73A0D-8F5B-405D-B59C-CB161E0A9189}" type="pres">
      <dgm:prSet presAssocID="{9255DF11-0805-48D2-ACF4-9F5FB235A641}" presName="lineNode" presStyleLbl="alignAccFollowNode1" presStyleIdx="9" presStyleCnt="15"/>
      <dgm:spPr/>
    </dgm:pt>
    <dgm:pt modelId="{C0C7913F-B500-41D5-A044-D898A63C0D5C}" type="pres">
      <dgm:prSet presAssocID="{9255DF11-0805-48D2-ACF4-9F5FB235A641}" presName="lineArrowNode" presStyleLbl="alignAccFollowNode1" presStyleIdx="10" presStyleCnt="15"/>
      <dgm:spPr/>
    </dgm:pt>
    <dgm:pt modelId="{343E1218-5274-4D55-9E42-6C35B8974051}" type="pres">
      <dgm:prSet presAssocID="{045B80EB-818C-4C6A-93A1-580F5FC210FE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648C015B-D4CA-437D-8589-E13ADEDDF558}" type="pres">
      <dgm:prSet presAssocID="{045B80EB-818C-4C6A-93A1-580F5FC210FE}" presName="spacerBetweenCircleAndCallout" presStyleCnt="0">
        <dgm:presLayoutVars/>
      </dgm:prSet>
      <dgm:spPr/>
    </dgm:pt>
    <dgm:pt modelId="{30661553-9ED2-45EB-9673-66B80A388342}" type="pres">
      <dgm:prSet presAssocID="{9255DF11-0805-48D2-ACF4-9F5FB235A641}" presName="nodeText" presStyleLbl="alignAccFollowNode1" presStyleIdx="11" presStyleCnt="15">
        <dgm:presLayoutVars>
          <dgm:bulletEnabled val="1"/>
        </dgm:presLayoutVars>
      </dgm:prSet>
      <dgm:spPr/>
    </dgm:pt>
    <dgm:pt modelId="{DB4F1F1C-C1BC-4079-8242-5B504F2553D3}" type="pres">
      <dgm:prSet presAssocID="{045B80EB-818C-4C6A-93A1-580F5FC210FE}" presName="sibTransComposite" presStyleCnt="0"/>
      <dgm:spPr/>
    </dgm:pt>
    <dgm:pt modelId="{7E4B7AA1-314A-43C3-8672-3CC70A02AC6F}" type="pres">
      <dgm:prSet presAssocID="{A8E04BBF-784D-4E48-879D-4C4A40034D4A}" presName="compositeNode" presStyleCnt="0"/>
      <dgm:spPr/>
    </dgm:pt>
    <dgm:pt modelId="{7AFD570E-DAE7-4399-873E-3B95125C3544}" type="pres">
      <dgm:prSet presAssocID="{A8E04BBF-784D-4E48-879D-4C4A40034D4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2E4E3D1-3955-4F33-857F-9C0263970E52}" type="pres">
      <dgm:prSet presAssocID="{A8E04BBF-784D-4E48-879D-4C4A40034D4A}" presName="parSh" presStyleCnt="0"/>
      <dgm:spPr/>
    </dgm:pt>
    <dgm:pt modelId="{97671A3C-BB3D-4F45-A461-438ED19E2EF0}" type="pres">
      <dgm:prSet presAssocID="{A8E04BBF-784D-4E48-879D-4C4A40034D4A}" presName="lineNode" presStyleLbl="alignAccFollowNode1" presStyleIdx="12" presStyleCnt="15"/>
      <dgm:spPr/>
    </dgm:pt>
    <dgm:pt modelId="{7A1B536C-478A-4D3F-A411-50FAE6E5BE7B}" type="pres">
      <dgm:prSet presAssocID="{A8E04BBF-784D-4E48-879D-4C4A40034D4A}" presName="lineArrowNode" presStyleLbl="alignAccFollowNode1" presStyleIdx="13" presStyleCnt="15"/>
      <dgm:spPr/>
    </dgm:pt>
    <dgm:pt modelId="{DFE79E5E-A3D3-4374-B23B-39EAD6FEE759}" type="pres">
      <dgm:prSet presAssocID="{30F09AB7-0EEF-4998-A990-4945FFF24D1E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92254378-744E-48B5-BD1B-3E2DE11E2C4D}" type="pres">
      <dgm:prSet presAssocID="{30F09AB7-0EEF-4998-A990-4945FFF24D1E}" presName="spacerBetweenCircleAndCallout" presStyleCnt="0">
        <dgm:presLayoutVars/>
      </dgm:prSet>
      <dgm:spPr/>
    </dgm:pt>
    <dgm:pt modelId="{D71B6CE6-6A9E-4C08-B34A-BE870EF1E3CA}" type="pres">
      <dgm:prSet presAssocID="{A8E04BBF-784D-4E48-879D-4C4A40034D4A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3F6BFC17-781F-4942-8995-533C346B23B9}" type="presOf" srcId="{045B80EB-818C-4C6A-93A1-580F5FC210FE}" destId="{343E1218-5274-4D55-9E42-6C35B8974051}" srcOrd="0" destOrd="0" presId="urn:microsoft.com/office/officeart/2016/7/layout/LinearArrowProcessNumbered"/>
    <dgm:cxn modelId="{0D650A1C-F7AF-4818-A302-C6A5377776F1}" type="presOf" srcId="{FC73CB59-A7E2-4F6A-A75C-8BEDA0972D5B}" destId="{4B9946DA-BF21-4861-A383-D01DF4F3C79E}" srcOrd="0" destOrd="0" presId="urn:microsoft.com/office/officeart/2016/7/layout/LinearArrowProcessNumbered"/>
    <dgm:cxn modelId="{E3C8A61E-FEC2-4024-AF2A-F85C3D0F6398}" srcId="{43F66393-E70F-4759-A8F7-9E7B2DE2D8AF}" destId="{B47A3364-EEA8-4C02-B11A-46E6D3B89F3F}" srcOrd="2" destOrd="0" parTransId="{1C743B61-FB9D-4AD4-84A8-1D004BB679CE}" sibTransId="{2CC28B61-CF12-475A-B3F2-CB76E2EACBB1}"/>
    <dgm:cxn modelId="{62284053-D71D-46F9-B98F-19CF16D43DD0}" type="presOf" srcId="{B47A3364-EEA8-4C02-B11A-46E6D3B89F3F}" destId="{C5E7B41A-312D-4CFF-BF49-4A5631B4B810}" srcOrd="0" destOrd="0" presId="urn:microsoft.com/office/officeart/2016/7/layout/LinearArrowProcessNumbered"/>
    <dgm:cxn modelId="{52936077-D2EA-4A41-B7FC-59AE5DB3A4B3}" type="presOf" srcId="{9255DF11-0805-48D2-ACF4-9F5FB235A641}" destId="{30661553-9ED2-45EB-9673-66B80A388342}" srcOrd="0" destOrd="0" presId="urn:microsoft.com/office/officeart/2016/7/layout/LinearArrowProcessNumbered"/>
    <dgm:cxn modelId="{B5774C87-B56B-4A71-B8E3-FF3143951A00}" srcId="{43F66393-E70F-4759-A8F7-9E7B2DE2D8AF}" destId="{9255DF11-0805-48D2-ACF4-9F5FB235A641}" srcOrd="3" destOrd="0" parTransId="{7E3E01AE-E18E-469E-A192-1373AFE9A425}" sibTransId="{045B80EB-818C-4C6A-93A1-580F5FC210FE}"/>
    <dgm:cxn modelId="{64FBD38C-B4A1-4E18-AE96-5172FA794D6D}" type="presOf" srcId="{CBC41542-FEFB-48C1-8908-9A4BE1C297B3}" destId="{A2CBF28C-5887-422A-9096-0AADB59BD124}" srcOrd="0" destOrd="0" presId="urn:microsoft.com/office/officeart/2016/7/layout/LinearArrowProcessNumbered"/>
    <dgm:cxn modelId="{1D49808D-957A-4B03-A845-CA5598B4E014}" srcId="{43F66393-E70F-4759-A8F7-9E7B2DE2D8AF}" destId="{A8E04BBF-784D-4E48-879D-4C4A40034D4A}" srcOrd="4" destOrd="0" parTransId="{206C42E8-5C49-4449-BED6-3660556CA70D}" sibTransId="{30F09AB7-0EEF-4998-A990-4945FFF24D1E}"/>
    <dgm:cxn modelId="{F9852A9B-AB1A-44F6-9C0D-E13405F585DC}" type="presOf" srcId="{A8E04BBF-784D-4E48-879D-4C4A40034D4A}" destId="{D71B6CE6-6A9E-4C08-B34A-BE870EF1E3CA}" srcOrd="0" destOrd="0" presId="urn:microsoft.com/office/officeart/2016/7/layout/LinearArrowProcessNumbered"/>
    <dgm:cxn modelId="{CF18169C-26DB-48B3-BD55-3440F8761AB6}" type="presOf" srcId="{30F09AB7-0EEF-4998-A990-4945FFF24D1E}" destId="{DFE79E5E-A3D3-4374-B23B-39EAD6FEE759}" srcOrd="0" destOrd="0" presId="urn:microsoft.com/office/officeart/2016/7/layout/LinearArrowProcessNumbered"/>
    <dgm:cxn modelId="{507243B6-7577-427B-A47C-8F024DD81D40}" srcId="{43F66393-E70F-4759-A8F7-9E7B2DE2D8AF}" destId="{195AE9D7-2E9F-4454-9F61-AE9F3DDCC20F}" srcOrd="1" destOrd="0" parTransId="{9F402555-5F9E-48FE-A625-C8AEA28A4897}" sibTransId="{04432F54-52D4-441B-BE62-C55103214D17}"/>
    <dgm:cxn modelId="{92B4D3BE-EAC1-48D6-BFFD-B5CDA0A57C05}" type="presOf" srcId="{2CC28B61-CF12-475A-B3F2-CB76E2EACBB1}" destId="{2802FDF5-4AAB-4678-B2B8-F1290CEE84CF}" srcOrd="0" destOrd="0" presId="urn:microsoft.com/office/officeart/2016/7/layout/LinearArrowProcessNumbered"/>
    <dgm:cxn modelId="{FD9367E2-6548-4C2D-9EAA-6F9816E051B1}" type="presOf" srcId="{195AE9D7-2E9F-4454-9F61-AE9F3DDCC20F}" destId="{A5677C2E-2BA4-47EB-8CAE-3B566FE8E8F2}" srcOrd="0" destOrd="0" presId="urn:microsoft.com/office/officeart/2016/7/layout/LinearArrowProcessNumbered"/>
    <dgm:cxn modelId="{F7E568E6-0F19-4BDB-9248-8732E1A3EB81}" type="presOf" srcId="{43F66393-E70F-4759-A8F7-9E7B2DE2D8AF}" destId="{69BB15F9-C005-425D-99EE-BD6B80FCF919}" srcOrd="0" destOrd="0" presId="urn:microsoft.com/office/officeart/2016/7/layout/LinearArrowProcessNumbered"/>
    <dgm:cxn modelId="{B3EE52F3-AF17-465A-8EE8-1FB5552041F2}" srcId="{43F66393-E70F-4759-A8F7-9E7B2DE2D8AF}" destId="{FC73CB59-A7E2-4F6A-A75C-8BEDA0972D5B}" srcOrd="0" destOrd="0" parTransId="{9EAC9026-360E-4DCD-987F-DFFE259D861D}" sibTransId="{CBC41542-FEFB-48C1-8908-9A4BE1C297B3}"/>
    <dgm:cxn modelId="{F20A4FFE-28AE-4589-859B-17B564F11A93}" type="presOf" srcId="{04432F54-52D4-441B-BE62-C55103214D17}" destId="{167C1473-BE50-4F1C-9216-2A9FCECCF055}" srcOrd="0" destOrd="0" presId="urn:microsoft.com/office/officeart/2016/7/layout/LinearArrowProcessNumbered"/>
    <dgm:cxn modelId="{22C74BEF-BB40-45CB-A55B-30D573418270}" type="presParOf" srcId="{69BB15F9-C005-425D-99EE-BD6B80FCF919}" destId="{47085C6B-381F-49D6-AD26-B717E3B7C4AD}" srcOrd="0" destOrd="0" presId="urn:microsoft.com/office/officeart/2016/7/layout/LinearArrowProcessNumbered"/>
    <dgm:cxn modelId="{1457F269-EA43-4CDD-B863-548551C9BCC2}" type="presParOf" srcId="{47085C6B-381F-49D6-AD26-B717E3B7C4AD}" destId="{8584B919-14E1-47B5-911A-F172FE948791}" srcOrd="0" destOrd="0" presId="urn:microsoft.com/office/officeart/2016/7/layout/LinearArrowProcessNumbered"/>
    <dgm:cxn modelId="{4574940C-EE3F-42ED-9523-D55BDA5A0BF1}" type="presParOf" srcId="{47085C6B-381F-49D6-AD26-B717E3B7C4AD}" destId="{D52F3BBA-C489-40B7-B8F4-C5C7B6B34B57}" srcOrd="1" destOrd="0" presId="urn:microsoft.com/office/officeart/2016/7/layout/LinearArrowProcessNumbered"/>
    <dgm:cxn modelId="{4E8A7278-CEFC-4E9A-8E96-23BBCBB8CECE}" type="presParOf" srcId="{D52F3BBA-C489-40B7-B8F4-C5C7B6B34B57}" destId="{B5CEDDFA-ECD7-4400-A32D-23EAADA29A8B}" srcOrd="0" destOrd="0" presId="urn:microsoft.com/office/officeart/2016/7/layout/LinearArrowProcessNumbered"/>
    <dgm:cxn modelId="{969CE606-D392-4804-AE29-EF824FE07D70}" type="presParOf" srcId="{D52F3BBA-C489-40B7-B8F4-C5C7B6B34B57}" destId="{B00A67A6-B9BA-41B8-AE71-EDAF73D15450}" srcOrd="1" destOrd="0" presId="urn:microsoft.com/office/officeart/2016/7/layout/LinearArrowProcessNumbered"/>
    <dgm:cxn modelId="{92F19E92-60F1-4E22-AD0D-09E5C01B77D7}" type="presParOf" srcId="{D52F3BBA-C489-40B7-B8F4-C5C7B6B34B57}" destId="{A2CBF28C-5887-422A-9096-0AADB59BD124}" srcOrd="2" destOrd="0" presId="urn:microsoft.com/office/officeart/2016/7/layout/LinearArrowProcessNumbered"/>
    <dgm:cxn modelId="{F63F862F-8D6C-42E7-916E-FE13C3FC33F4}" type="presParOf" srcId="{D52F3BBA-C489-40B7-B8F4-C5C7B6B34B57}" destId="{817B6D53-F0D7-494A-9CBE-F29688ED4FF1}" srcOrd="3" destOrd="0" presId="urn:microsoft.com/office/officeart/2016/7/layout/LinearArrowProcessNumbered"/>
    <dgm:cxn modelId="{A148F9AF-D6F9-483F-8BD6-B364B10B0AE8}" type="presParOf" srcId="{47085C6B-381F-49D6-AD26-B717E3B7C4AD}" destId="{4B9946DA-BF21-4861-A383-D01DF4F3C79E}" srcOrd="2" destOrd="0" presId="urn:microsoft.com/office/officeart/2016/7/layout/LinearArrowProcessNumbered"/>
    <dgm:cxn modelId="{A2FFF0D3-5DFB-406B-8F94-36926E773C7D}" type="presParOf" srcId="{69BB15F9-C005-425D-99EE-BD6B80FCF919}" destId="{E2385CFC-D4C8-4B59-8689-AEBD3451991C}" srcOrd="1" destOrd="0" presId="urn:microsoft.com/office/officeart/2016/7/layout/LinearArrowProcessNumbered"/>
    <dgm:cxn modelId="{B5743914-EB0E-4EBA-AF2C-53C6C42AF46F}" type="presParOf" srcId="{69BB15F9-C005-425D-99EE-BD6B80FCF919}" destId="{ED6D74AD-8C1E-45D4-B836-518EAF70A5A2}" srcOrd="2" destOrd="0" presId="urn:microsoft.com/office/officeart/2016/7/layout/LinearArrowProcessNumbered"/>
    <dgm:cxn modelId="{E52EF7AD-0F9D-42A2-BFD9-192AD1DB063A}" type="presParOf" srcId="{ED6D74AD-8C1E-45D4-B836-518EAF70A5A2}" destId="{0CA7EA23-EB47-4C0F-AF8A-10DD1F8EA836}" srcOrd="0" destOrd="0" presId="urn:microsoft.com/office/officeart/2016/7/layout/LinearArrowProcessNumbered"/>
    <dgm:cxn modelId="{F32436CC-1F4E-4D55-B2E5-11352E42E99B}" type="presParOf" srcId="{ED6D74AD-8C1E-45D4-B836-518EAF70A5A2}" destId="{CC4D7F61-5785-41E2-867A-480FE093C6D5}" srcOrd="1" destOrd="0" presId="urn:microsoft.com/office/officeart/2016/7/layout/LinearArrowProcessNumbered"/>
    <dgm:cxn modelId="{6AA2EA44-FE2F-47AE-A8C8-C86A7B33CD8F}" type="presParOf" srcId="{CC4D7F61-5785-41E2-867A-480FE093C6D5}" destId="{7E6724B9-2D32-4014-AE41-F3A25D10D593}" srcOrd="0" destOrd="0" presId="urn:microsoft.com/office/officeart/2016/7/layout/LinearArrowProcessNumbered"/>
    <dgm:cxn modelId="{42EA737E-079B-4937-A17D-1449B17A3DF6}" type="presParOf" srcId="{CC4D7F61-5785-41E2-867A-480FE093C6D5}" destId="{06677B12-ADEB-45DB-8DB1-663337E900CE}" srcOrd="1" destOrd="0" presId="urn:microsoft.com/office/officeart/2016/7/layout/LinearArrowProcessNumbered"/>
    <dgm:cxn modelId="{C61331F3-DFF6-45A7-812C-D492E327F2F7}" type="presParOf" srcId="{CC4D7F61-5785-41E2-867A-480FE093C6D5}" destId="{167C1473-BE50-4F1C-9216-2A9FCECCF055}" srcOrd="2" destOrd="0" presId="urn:microsoft.com/office/officeart/2016/7/layout/LinearArrowProcessNumbered"/>
    <dgm:cxn modelId="{E4B1B0B0-18D0-4C65-A860-8859DD247942}" type="presParOf" srcId="{CC4D7F61-5785-41E2-867A-480FE093C6D5}" destId="{E7A32BFE-1156-4028-9477-11ED5AD014AA}" srcOrd="3" destOrd="0" presId="urn:microsoft.com/office/officeart/2016/7/layout/LinearArrowProcessNumbered"/>
    <dgm:cxn modelId="{5EC0F796-C16B-492A-9E88-B3F96F5BFFD4}" type="presParOf" srcId="{ED6D74AD-8C1E-45D4-B836-518EAF70A5A2}" destId="{A5677C2E-2BA4-47EB-8CAE-3B566FE8E8F2}" srcOrd="2" destOrd="0" presId="urn:microsoft.com/office/officeart/2016/7/layout/LinearArrowProcessNumbered"/>
    <dgm:cxn modelId="{29927851-A968-4B9D-A6A5-A2E9D68CC8CA}" type="presParOf" srcId="{69BB15F9-C005-425D-99EE-BD6B80FCF919}" destId="{F9C55FDD-3348-4A6B-A2E2-44804A68964F}" srcOrd="3" destOrd="0" presId="urn:microsoft.com/office/officeart/2016/7/layout/LinearArrowProcessNumbered"/>
    <dgm:cxn modelId="{CE833612-CD31-4837-B4B0-515A51681AEA}" type="presParOf" srcId="{69BB15F9-C005-425D-99EE-BD6B80FCF919}" destId="{D710F5F7-CE45-4925-9612-A88836FEEDFA}" srcOrd="4" destOrd="0" presId="urn:microsoft.com/office/officeart/2016/7/layout/LinearArrowProcessNumbered"/>
    <dgm:cxn modelId="{576C66B5-69D4-4ED6-B167-8D7CABBDF6E7}" type="presParOf" srcId="{D710F5F7-CE45-4925-9612-A88836FEEDFA}" destId="{95A149BF-7CA5-4B0A-97DE-533C6549E38E}" srcOrd="0" destOrd="0" presId="urn:microsoft.com/office/officeart/2016/7/layout/LinearArrowProcessNumbered"/>
    <dgm:cxn modelId="{6632E1F3-8FA4-4332-9764-3C7F928625DF}" type="presParOf" srcId="{D710F5F7-CE45-4925-9612-A88836FEEDFA}" destId="{619B64E2-6D7A-4646-A0E6-2FF6B0DBE089}" srcOrd="1" destOrd="0" presId="urn:microsoft.com/office/officeart/2016/7/layout/LinearArrowProcessNumbered"/>
    <dgm:cxn modelId="{5261DDB5-FE8C-437D-81C0-3033D397D427}" type="presParOf" srcId="{619B64E2-6D7A-4646-A0E6-2FF6B0DBE089}" destId="{72780815-20FB-45F4-95C1-CC163E94B690}" srcOrd="0" destOrd="0" presId="urn:microsoft.com/office/officeart/2016/7/layout/LinearArrowProcessNumbered"/>
    <dgm:cxn modelId="{370B88DE-543D-43D6-95F2-FC4AA7449A38}" type="presParOf" srcId="{619B64E2-6D7A-4646-A0E6-2FF6B0DBE089}" destId="{CD1BD725-1B4E-4ABA-BEFC-7EF0C902AF29}" srcOrd="1" destOrd="0" presId="urn:microsoft.com/office/officeart/2016/7/layout/LinearArrowProcessNumbered"/>
    <dgm:cxn modelId="{274FAE1E-E6AC-451C-9610-F71CE8C7D131}" type="presParOf" srcId="{619B64E2-6D7A-4646-A0E6-2FF6B0DBE089}" destId="{2802FDF5-4AAB-4678-B2B8-F1290CEE84CF}" srcOrd="2" destOrd="0" presId="urn:microsoft.com/office/officeart/2016/7/layout/LinearArrowProcessNumbered"/>
    <dgm:cxn modelId="{8E90DFB0-16FA-4CBA-B092-9020A4BC4893}" type="presParOf" srcId="{619B64E2-6D7A-4646-A0E6-2FF6B0DBE089}" destId="{A02ACB9C-A61A-4193-823D-BCC8A86C71A5}" srcOrd="3" destOrd="0" presId="urn:microsoft.com/office/officeart/2016/7/layout/LinearArrowProcessNumbered"/>
    <dgm:cxn modelId="{9EF16BD7-CA31-4BE9-8299-A41D308B597F}" type="presParOf" srcId="{D710F5F7-CE45-4925-9612-A88836FEEDFA}" destId="{C5E7B41A-312D-4CFF-BF49-4A5631B4B810}" srcOrd="2" destOrd="0" presId="urn:microsoft.com/office/officeart/2016/7/layout/LinearArrowProcessNumbered"/>
    <dgm:cxn modelId="{5B0BC2D5-F8D9-4465-B43D-3E9B53630671}" type="presParOf" srcId="{69BB15F9-C005-425D-99EE-BD6B80FCF919}" destId="{0B17B86E-2BA5-401D-AC24-387D7BA29398}" srcOrd="5" destOrd="0" presId="urn:microsoft.com/office/officeart/2016/7/layout/LinearArrowProcessNumbered"/>
    <dgm:cxn modelId="{BD7FA9EC-D399-477F-9EA8-871C1568A720}" type="presParOf" srcId="{69BB15F9-C005-425D-99EE-BD6B80FCF919}" destId="{748E356F-9F61-48DB-A343-4E1A60935E7E}" srcOrd="6" destOrd="0" presId="urn:microsoft.com/office/officeart/2016/7/layout/LinearArrowProcessNumbered"/>
    <dgm:cxn modelId="{452215B2-C5B5-4D31-8F66-20698FA5B106}" type="presParOf" srcId="{748E356F-9F61-48DB-A343-4E1A60935E7E}" destId="{25E779F7-08A4-46B3-8339-B9A31D6EE944}" srcOrd="0" destOrd="0" presId="urn:microsoft.com/office/officeart/2016/7/layout/LinearArrowProcessNumbered"/>
    <dgm:cxn modelId="{78389764-0178-491E-827A-E86B62A8D613}" type="presParOf" srcId="{748E356F-9F61-48DB-A343-4E1A60935E7E}" destId="{BB78F6B5-59B0-4E7C-B8F3-872BC3F1BD3B}" srcOrd="1" destOrd="0" presId="urn:microsoft.com/office/officeart/2016/7/layout/LinearArrowProcessNumbered"/>
    <dgm:cxn modelId="{702B22A2-A2F5-4AA2-B0B8-B0EB21909FD1}" type="presParOf" srcId="{BB78F6B5-59B0-4E7C-B8F3-872BC3F1BD3B}" destId="{58C73A0D-8F5B-405D-B59C-CB161E0A9189}" srcOrd="0" destOrd="0" presId="urn:microsoft.com/office/officeart/2016/7/layout/LinearArrowProcessNumbered"/>
    <dgm:cxn modelId="{52ADF465-BB87-4DFB-BB41-4992B8A09BF4}" type="presParOf" srcId="{BB78F6B5-59B0-4E7C-B8F3-872BC3F1BD3B}" destId="{C0C7913F-B500-41D5-A044-D898A63C0D5C}" srcOrd="1" destOrd="0" presId="urn:microsoft.com/office/officeart/2016/7/layout/LinearArrowProcessNumbered"/>
    <dgm:cxn modelId="{8E99858D-D7B4-4865-8787-F9D382F777EC}" type="presParOf" srcId="{BB78F6B5-59B0-4E7C-B8F3-872BC3F1BD3B}" destId="{343E1218-5274-4D55-9E42-6C35B8974051}" srcOrd="2" destOrd="0" presId="urn:microsoft.com/office/officeart/2016/7/layout/LinearArrowProcessNumbered"/>
    <dgm:cxn modelId="{37829EDB-D344-41F1-9C16-6B1F589A4AA9}" type="presParOf" srcId="{BB78F6B5-59B0-4E7C-B8F3-872BC3F1BD3B}" destId="{648C015B-D4CA-437D-8589-E13ADEDDF558}" srcOrd="3" destOrd="0" presId="urn:microsoft.com/office/officeart/2016/7/layout/LinearArrowProcessNumbered"/>
    <dgm:cxn modelId="{D6B4577B-E79B-4959-997B-9AF0A40D63EA}" type="presParOf" srcId="{748E356F-9F61-48DB-A343-4E1A60935E7E}" destId="{30661553-9ED2-45EB-9673-66B80A388342}" srcOrd="2" destOrd="0" presId="urn:microsoft.com/office/officeart/2016/7/layout/LinearArrowProcessNumbered"/>
    <dgm:cxn modelId="{FF95D557-DC33-4EBA-8DF0-98E8E4C08DFD}" type="presParOf" srcId="{69BB15F9-C005-425D-99EE-BD6B80FCF919}" destId="{DB4F1F1C-C1BC-4079-8242-5B504F2553D3}" srcOrd="7" destOrd="0" presId="urn:microsoft.com/office/officeart/2016/7/layout/LinearArrowProcessNumbered"/>
    <dgm:cxn modelId="{FF4E0D78-AD4A-4CD2-872B-AA3E1349AFDF}" type="presParOf" srcId="{69BB15F9-C005-425D-99EE-BD6B80FCF919}" destId="{7E4B7AA1-314A-43C3-8672-3CC70A02AC6F}" srcOrd="8" destOrd="0" presId="urn:microsoft.com/office/officeart/2016/7/layout/LinearArrowProcessNumbered"/>
    <dgm:cxn modelId="{4A332DAA-99BE-4407-9543-02E947BD7C28}" type="presParOf" srcId="{7E4B7AA1-314A-43C3-8672-3CC70A02AC6F}" destId="{7AFD570E-DAE7-4399-873E-3B95125C3544}" srcOrd="0" destOrd="0" presId="urn:microsoft.com/office/officeart/2016/7/layout/LinearArrowProcessNumbered"/>
    <dgm:cxn modelId="{BFD37C3F-835C-4444-851B-C3CC025E3D4C}" type="presParOf" srcId="{7E4B7AA1-314A-43C3-8672-3CC70A02AC6F}" destId="{52E4E3D1-3955-4F33-857F-9C0263970E52}" srcOrd="1" destOrd="0" presId="urn:microsoft.com/office/officeart/2016/7/layout/LinearArrowProcessNumbered"/>
    <dgm:cxn modelId="{DFDCDA8D-F86A-4723-B45A-A99AF13C0282}" type="presParOf" srcId="{52E4E3D1-3955-4F33-857F-9C0263970E52}" destId="{97671A3C-BB3D-4F45-A461-438ED19E2EF0}" srcOrd="0" destOrd="0" presId="urn:microsoft.com/office/officeart/2016/7/layout/LinearArrowProcessNumbered"/>
    <dgm:cxn modelId="{FAF5A221-104D-4B98-8DDA-45EEC0DAFDAE}" type="presParOf" srcId="{52E4E3D1-3955-4F33-857F-9C0263970E52}" destId="{7A1B536C-478A-4D3F-A411-50FAE6E5BE7B}" srcOrd="1" destOrd="0" presId="urn:microsoft.com/office/officeart/2016/7/layout/LinearArrowProcessNumbered"/>
    <dgm:cxn modelId="{D41F2CFB-0B33-45FF-AA58-FC43525D69C2}" type="presParOf" srcId="{52E4E3D1-3955-4F33-857F-9C0263970E52}" destId="{DFE79E5E-A3D3-4374-B23B-39EAD6FEE759}" srcOrd="2" destOrd="0" presId="urn:microsoft.com/office/officeart/2016/7/layout/LinearArrowProcessNumbered"/>
    <dgm:cxn modelId="{F147D0F0-7165-46B8-B57D-D8281764CD17}" type="presParOf" srcId="{52E4E3D1-3955-4F33-857F-9C0263970E52}" destId="{92254378-744E-48B5-BD1B-3E2DE11E2C4D}" srcOrd="3" destOrd="0" presId="urn:microsoft.com/office/officeart/2016/7/layout/LinearArrowProcessNumbered"/>
    <dgm:cxn modelId="{B9F1F4A8-156A-47A9-9B48-F05A25400B43}" type="presParOf" srcId="{7E4B7AA1-314A-43C3-8672-3CC70A02AC6F}" destId="{D71B6CE6-6A9E-4C08-B34A-BE870EF1E3CA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72A294-EB4A-41F4-9BAF-4A038D434D5E}">
      <dsp:nvSpPr>
        <dsp:cNvPr id="0" name=""/>
        <dsp:cNvSpPr/>
      </dsp:nvSpPr>
      <dsp:spPr>
        <a:xfrm>
          <a:off x="0" y="7020"/>
          <a:ext cx="10853928" cy="884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Healthcare Operations</a:t>
          </a:r>
        </a:p>
      </dsp:txBody>
      <dsp:txXfrm>
        <a:off x="43179" y="50199"/>
        <a:ext cx="10767570" cy="798162"/>
      </dsp:txXfrm>
    </dsp:sp>
    <dsp:sp modelId="{7BB9E41E-AEE1-4C07-83F2-915C1444F2F5}">
      <dsp:nvSpPr>
        <dsp:cNvPr id="0" name=""/>
        <dsp:cNvSpPr/>
      </dsp:nvSpPr>
      <dsp:spPr>
        <a:xfrm>
          <a:off x="0" y="891540"/>
          <a:ext cx="10853928" cy="3353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4612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i="0" kern="1200" dirty="0"/>
            <a:t>Objective</a:t>
          </a:r>
          <a:endParaRPr lang="en-US" sz="2800" b="1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 dirty="0"/>
            <a:t>Business Task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 dirty="0"/>
            <a:t>Data source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 dirty="0"/>
            <a:t>Data cleaning summary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 dirty="0"/>
            <a:t>The story with data.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 dirty="0"/>
            <a:t>Conclusion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 dirty="0"/>
            <a:t>Recommendations</a:t>
          </a:r>
        </a:p>
      </dsp:txBody>
      <dsp:txXfrm>
        <a:off x="0" y="891540"/>
        <a:ext cx="10853928" cy="3353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CEDDFA-ECD7-4400-A32D-23EAADA29A8B}">
      <dsp:nvSpPr>
        <dsp:cNvPr id="0" name=""/>
        <dsp:cNvSpPr/>
      </dsp:nvSpPr>
      <dsp:spPr>
        <a:xfrm>
          <a:off x="602088" y="506560"/>
          <a:ext cx="478745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0A67A6-B9BA-41B8-AE71-EDAF73D15450}">
      <dsp:nvSpPr>
        <dsp:cNvPr id="0" name=""/>
        <dsp:cNvSpPr/>
      </dsp:nvSpPr>
      <dsp:spPr>
        <a:xfrm>
          <a:off x="1109559" y="466341"/>
          <a:ext cx="55055" cy="10337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CBF28C-5887-422A-9096-0AADB59BD124}">
      <dsp:nvSpPr>
        <dsp:cNvPr id="0" name=""/>
        <dsp:cNvSpPr/>
      </dsp:nvSpPr>
      <dsp:spPr>
        <a:xfrm>
          <a:off x="337408" y="301758"/>
          <a:ext cx="409673" cy="4096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98" tIns="15898" rIns="15898" bIns="1589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</a:t>
          </a:r>
        </a:p>
      </dsp:txBody>
      <dsp:txXfrm>
        <a:off x="397403" y="361753"/>
        <a:ext cx="289683" cy="289683"/>
      </dsp:txXfrm>
    </dsp:sp>
    <dsp:sp modelId="{4B9946DA-BF21-4861-A383-D01DF4F3C79E}">
      <dsp:nvSpPr>
        <dsp:cNvPr id="0" name=""/>
        <dsp:cNvSpPr/>
      </dsp:nvSpPr>
      <dsp:spPr>
        <a:xfrm>
          <a:off x="3656" y="876815"/>
          <a:ext cx="107717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69" tIns="165100" rIns="8496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Analyze Appointment Data across clinic locations, patient profiles, and scheduling timeframes.</a:t>
          </a:r>
        </a:p>
      </dsp:txBody>
      <dsp:txXfrm>
        <a:off x="3656" y="1092251"/>
        <a:ext cx="1077178" cy="1750164"/>
      </dsp:txXfrm>
    </dsp:sp>
    <dsp:sp modelId="{7E6724B9-2D32-4014-AE41-F3A25D10D593}">
      <dsp:nvSpPr>
        <dsp:cNvPr id="0" name=""/>
        <dsp:cNvSpPr/>
      </dsp:nvSpPr>
      <dsp:spPr>
        <a:xfrm>
          <a:off x="1200521" y="506829"/>
          <a:ext cx="107717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77B12-ADEB-45DB-8DB1-663337E900CE}">
      <dsp:nvSpPr>
        <dsp:cNvPr id="0" name=""/>
        <dsp:cNvSpPr/>
      </dsp:nvSpPr>
      <dsp:spPr>
        <a:xfrm>
          <a:off x="2306424" y="466558"/>
          <a:ext cx="55055" cy="10364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7C1473-BE50-4F1C-9216-2A9FCECCF055}">
      <dsp:nvSpPr>
        <dsp:cNvPr id="0" name=""/>
        <dsp:cNvSpPr/>
      </dsp:nvSpPr>
      <dsp:spPr>
        <a:xfrm>
          <a:off x="1534273" y="302028"/>
          <a:ext cx="409673" cy="4096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98" tIns="15898" rIns="15898" bIns="1589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</a:t>
          </a:r>
        </a:p>
      </dsp:txBody>
      <dsp:txXfrm>
        <a:off x="1594268" y="362023"/>
        <a:ext cx="289683" cy="289683"/>
      </dsp:txXfrm>
    </dsp:sp>
    <dsp:sp modelId="{A5677C2E-2BA4-47EB-8CAE-3B566FE8E8F2}">
      <dsp:nvSpPr>
        <dsp:cNvPr id="0" name=""/>
        <dsp:cNvSpPr/>
      </dsp:nvSpPr>
      <dsp:spPr>
        <a:xfrm>
          <a:off x="1200521" y="877571"/>
          <a:ext cx="107717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69" tIns="165100" rIns="8496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Identify High-Risk Segments and underperforming clinics based on missed appointment volume and lost revenue.</a:t>
          </a:r>
        </a:p>
      </dsp:txBody>
      <dsp:txXfrm>
        <a:off x="1200521" y="1093007"/>
        <a:ext cx="1077178" cy="1750164"/>
      </dsp:txXfrm>
    </dsp:sp>
    <dsp:sp modelId="{72780815-20FB-45F4-95C1-CC163E94B690}">
      <dsp:nvSpPr>
        <dsp:cNvPr id="0" name=""/>
        <dsp:cNvSpPr/>
      </dsp:nvSpPr>
      <dsp:spPr>
        <a:xfrm>
          <a:off x="2397386" y="506829"/>
          <a:ext cx="107717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1BD725-1B4E-4ABA-BEFC-7EF0C902AF29}">
      <dsp:nvSpPr>
        <dsp:cNvPr id="0" name=""/>
        <dsp:cNvSpPr/>
      </dsp:nvSpPr>
      <dsp:spPr>
        <a:xfrm>
          <a:off x="3503289" y="466558"/>
          <a:ext cx="55055" cy="10364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02FDF5-4AAB-4678-B2B8-F1290CEE84CF}">
      <dsp:nvSpPr>
        <dsp:cNvPr id="0" name=""/>
        <dsp:cNvSpPr/>
      </dsp:nvSpPr>
      <dsp:spPr>
        <a:xfrm>
          <a:off x="2731138" y="302028"/>
          <a:ext cx="409673" cy="4096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98" tIns="15898" rIns="15898" bIns="1589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</a:t>
          </a:r>
        </a:p>
      </dsp:txBody>
      <dsp:txXfrm>
        <a:off x="2791133" y="362023"/>
        <a:ext cx="289683" cy="289683"/>
      </dsp:txXfrm>
    </dsp:sp>
    <dsp:sp modelId="{C5E7B41A-312D-4CFF-BF49-4A5631B4B810}">
      <dsp:nvSpPr>
        <dsp:cNvPr id="0" name=""/>
        <dsp:cNvSpPr/>
      </dsp:nvSpPr>
      <dsp:spPr>
        <a:xfrm>
          <a:off x="2397386" y="877571"/>
          <a:ext cx="107717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69" tIns="165100" rIns="8496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Determine Logistical Priorities by ranking the impact of wait times and SMS communication gaps on attendance.</a:t>
          </a:r>
        </a:p>
      </dsp:txBody>
      <dsp:txXfrm>
        <a:off x="2397386" y="1093007"/>
        <a:ext cx="1077178" cy="1750164"/>
      </dsp:txXfrm>
    </dsp:sp>
    <dsp:sp modelId="{58C73A0D-8F5B-405D-B59C-CB161E0A9189}">
      <dsp:nvSpPr>
        <dsp:cNvPr id="0" name=""/>
        <dsp:cNvSpPr/>
      </dsp:nvSpPr>
      <dsp:spPr>
        <a:xfrm>
          <a:off x="3594250" y="506829"/>
          <a:ext cx="107717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C7913F-B500-41D5-A044-D898A63C0D5C}">
      <dsp:nvSpPr>
        <dsp:cNvPr id="0" name=""/>
        <dsp:cNvSpPr/>
      </dsp:nvSpPr>
      <dsp:spPr>
        <a:xfrm>
          <a:off x="4700154" y="466558"/>
          <a:ext cx="55055" cy="10364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3E1218-5274-4D55-9E42-6C35B8974051}">
      <dsp:nvSpPr>
        <dsp:cNvPr id="0" name=""/>
        <dsp:cNvSpPr/>
      </dsp:nvSpPr>
      <dsp:spPr>
        <a:xfrm>
          <a:off x="3928003" y="302028"/>
          <a:ext cx="409673" cy="4096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98" tIns="15898" rIns="15898" bIns="1589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</a:t>
          </a:r>
        </a:p>
      </dsp:txBody>
      <dsp:txXfrm>
        <a:off x="3987998" y="362023"/>
        <a:ext cx="289683" cy="289683"/>
      </dsp:txXfrm>
    </dsp:sp>
    <dsp:sp modelId="{30661553-9ED2-45EB-9673-66B80A388342}">
      <dsp:nvSpPr>
        <dsp:cNvPr id="0" name=""/>
        <dsp:cNvSpPr/>
      </dsp:nvSpPr>
      <dsp:spPr>
        <a:xfrm>
          <a:off x="3594250" y="877571"/>
          <a:ext cx="107717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69" tIns="165100" rIns="8496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Examine Attendance Trends to detect weekly patterns, such as significant operational waste occurring on Fridays.</a:t>
          </a:r>
        </a:p>
      </dsp:txBody>
      <dsp:txXfrm>
        <a:off x="3594250" y="1093007"/>
        <a:ext cx="1077178" cy="1750164"/>
      </dsp:txXfrm>
    </dsp:sp>
    <dsp:sp modelId="{97671A3C-BB3D-4F45-A461-438ED19E2EF0}">
      <dsp:nvSpPr>
        <dsp:cNvPr id="0" name=""/>
        <dsp:cNvSpPr/>
      </dsp:nvSpPr>
      <dsp:spPr>
        <a:xfrm>
          <a:off x="4791115" y="506829"/>
          <a:ext cx="538589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79E5E-A3D3-4374-B23B-39EAD6FEE759}">
      <dsp:nvSpPr>
        <dsp:cNvPr id="0" name=""/>
        <dsp:cNvSpPr/>
      </dsp:nvSpPr>
      <dsp:spPr>
        <a:xfrm>
          <a:off x="5124868" y="302028"/>
          <a:ext cx="409673" cy="4096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98" tIns="15898" rIns="15898" bIns="1589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5</a:t>
          </a:r>
        </a:p>
      </dsp:txBody>
      <dsp:txXfrm>
        <a:off x="5184863" y="362023"/>
        <a:ext cx="289683" cy="289683"/>
      </dsp:txXfrm>
    </dsp:sp>
    <dsp:sp modelId="{D71B6CE6-6A9E-4C08-B34A-BE870EF1E3CA}">
      <dsp:nvSpPr>
        <dsp:cNvPr id="0" name=""/>
        <dsp:cNvSpPr/>
      </dsp:nvSpPr>
      <dsp:spPr>
        <a:xfrm>
          <a:off x="4791115" y="877571"/>
          <a:ext cx="107717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69" tIns="165100" rIns="8496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Provide Data-Driven Insights to support strategic scheduling, resource optimization, and financial recovery decisions.</a:t>
          </a:r>
        </a:p>
      </dsp:txBody>
      <dsp:txXfrm>
        <a:off x="4791115" y="1093007"/>
        <a:ext cx="1077178" cy="17501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2AB3-2AF5-4DEA-972C-853AE3EB5B5B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DEB58-ED9D-4547-BE01-163DB0A84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94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ADEB58-ED9D-4547-BE01-163DB0A84E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96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E290-5A65-F350-38D4-943270FF7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A5359-48FB-FB1F-81B8-1289ADD12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D71A8-9F08-2E34-0C31-7C07D0F6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D780-66EB-4831-943E-7691CB5E093F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3A1B6-95C0-8AD9-7A0F-02BBD5A5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75D3A-26D5-86C3-FC3A-08C57EF2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8F1F-A5A2-4C6D-BFE4-589F041F6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3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F9B6-909B-D636-2DD1-32BEC9677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B6631-7561-802D-B387-188C9058F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ACFCF-1044-06FB-B193-EB3A26C5D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FFFFA-ECD4-49FC-BC9E-6474C1482BBD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1C039-B981-F624-FD9E-EF769223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6713"/>
            <a:ext cx="4114800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B8611-762E-12BC-39FB-CD2F26096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0217" y="6658021"/>
            <a:ext cx="363583" cy="19997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F6138F1F-A5A2-4C6D-BFE4-589F041F66E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174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8483-0F5A-C25D-4056-4A05B45A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CDD29-5B67-A117-F425-CDA214121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A7E14-D8DC-1E97-FC1B-96902139B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1DA3-7527-496A-9246-125B65D2E8A6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12822-969B-45A8-CF63-6575C07F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42EDF-57CE-BAF3-E8D3-9B59EE0D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8F1F-A5A2-4C6D-BFE4-589F041F6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89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FC082-2E67-E43C-BEC8-A156541E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0235-A585-0C3A-2ADA-0F951E364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33F56-2C75-1A08-A6AC-40ACF4451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C6436-6001-2352-71BF-C3C3F41B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B596-2AD0-40D5-8C36-72A470AA5D5D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C0B2A-A419-3340-DAAD-E77BFA80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3760D-4EAA-A3E4-03D7-6DA97292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8F1F-A5A2-4C6D-BFE4-589F041F6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3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EA911-C52C-3386-CFE1-0C4BC328F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127D1-D3E1-6B2F-26D9-522B000C1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EB235-3E99-1F5D-2C8F-23727BCAF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D925B9-8003-2DE5-1CFC-5A355642BB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8B31D2-9B58-FBA7-1DE1-884111CFE8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290A67-F580-8939-70CE-777C08412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F59DA-1FF3-4348-945B-555BE94C7CE7}" type="datetime1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F16155-AD68-72F1-26CC-4EDE56A6D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3CA3F-29D2-1C2E-5E83-068A7298D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8F1F-A5A2-4C6D-BFE4-589F041F6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5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08BC-2AF5-9941-CB90-0BF11B4D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E087-9D8E-1D3A-72FC-4B9CBE188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EEDF-779F-40A0-8E6E-D5DDE69BD400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9ECC2-B025-6EB9-04C4-B88429A1B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AC1D9-C0B4-87E1-7E6E-45202BD2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8F1F-A5A2-4C6D-BFE4-589F041F6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840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2F318-D921-A140-CA9D-FB03CB8D1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6EEEB-1CDF-4682-BCCD-907675E7B3A2}" type="datetime1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FBCD2-D067-E688-117D-51DEDF54A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F5BD8-546B-B910-A459-D53C5C2FA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8F1F-A5A2-4C6D-BFE4-589F041F6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69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4C62-5354-45F7-CF94-FA101A512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FCFA-FCB1-C50E-3A17-03ADC3AAA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2F55A-7E45-EB2B-6E71-B663A557B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FF73A-E6BD-9D2D-9C2C-AFF1F31C7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9C5E2-94EA-40BA-A482-C7672A5547C5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D12D5-6C4F-9B84-4934-274298CDE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500" b="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5D49F-558C-4BBA-2EC3-C9D8F1AC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8F1F-A5A2-4C6D-BFE4-589F041F6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93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4070-674E-9269-80F6-91C74196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FB6A4A-0CD9-95AF-A719-5B7565D96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84C0D-729D-F9F1-D172-946D60314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FF123-1CAF-51DC-D4B2-18A53F94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70E5E-1D0C-4E8C-861E-A713FD3E5D5F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E34ED-F661-E094-1162-AC95216D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4ED1C-46F5-88C6-7BC6-5C29A77D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8F1F-A5A2-4C6D-BFE4-589F041F6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1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62DF6-39DB-9F4C-EC5A-0D0B6F4B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904CF-C69C-1246-A58D-D0EDC9158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4B479-4E47-8F4F-FE4F-E41F8F5E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4BA4-DC3B-4774-B84B-AAF379CA55A9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0CACB-8E68-CBEF-D30E-09FA3716C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9FA2E-9D58-474E-54E7-9304B6743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8F1F-A5A2-4C6D-BFE4-589F041F6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275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242CDA-962A-ED18-7B6C-B527C57BD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013FD-31D8-AA24-B92C-1B96E584A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E764B-DD90-C3DE-7995-B1D8E55B6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D9384-D6D8-448D-9B03-EA2148A9FFF4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02496-BD7B-2157-2CFC-B629BE21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9425A-6644-A254-6C54-FF09858E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8F1F-A5A2-4C6D-BFE4-589F041F6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5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1F4C9-577D-74DB-85D8-166919C5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484D0-0498-5B57-C3B4-58AA72EA8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312D3-B91C-AFFA-1D9F-242E1F754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DD75AF-DD10-4CEF-AA0B-9EDC54B5B643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A10E-BE56-CC15-1F96-C6891FB8C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A06A6-C773-8291-08CF-FD5AC3ED5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38F1F-A5A2-4C6D-BFE4-589F041F6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sv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datasets" TargetMode="External"/><Relationship Id="rId4" Type="http://schemas.openxmlformats.org/officeDocument/2006/relationships/hyperlink" Target="https://www.kaggle.com/datasets/joniarroba/noshowappointments?resource=download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40">
            <a:extLst>
              <a:ext uri="{FF2B5EF4-FFF2-40B4-BE49-F238E27FC236}">
                <a16:creationId xmlns:a16="http://schemas.microsoft.com/office/drawing/2014/main" id="{D35D6ADF-29CD-A6E2-3232-0C4568DDA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600" b="1" dirty="0"/>
              <a:t>Medical Appointments 2016</a:t>
            </a:r>
            <a:endParaRPr lang="en-US" sz="4600" dirty="0"/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D84D55FD-8B6F-D054-04C8-715DF7C4D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4711564" cy="143560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Presented by: </a:t>
            </a:r>
            <a:r>
              <a:rPr lang="en-US" b="1" dirty="0"/>
              <a:t>Omer Metwally</a:t>
            </a:r>
          </a:p>
          <a:p>
            <a:pPr algn="l"/>
            <a:r>
              <a:rPr lang="en-US" dirty="0"/>
              <a:t>Last Updated: </a:t>
            </a:r>
            <a:r>
              <a:rPr lang="en-US" b="1" dirty="0"/>
              <a:t>10.</a:t>
            </a:r>
            <a:r>
              <a:rPr lang="en-US" b="1" baseline="30000" dirty="0"/>
              <a:t>th</a:t>
            </a:r>
            <a:r>
              <a:rPr lang="en-US" b="1" dirty="0"/>
              <a:t> January 2026</a:t>
            </a:r>
          </a:p>
        </p:txBody>
      </p:sp>
      <p:sp>
        <p:nvSpPr>
          <p:cNvPr id="56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Pink desk with doctor items">
            <a:extLst>
              <a:ext uri="{FF2B5EF4-FFF2-40B4-BE49-F238E27FC236}">
                <a16:creationId xmlns:a16="http://schemas.microsoft.com/office/drawing/2014/main" id="{15532F2C-5175-68C0-7D4F-410CDE7F0C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48" r="-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7981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CD652A-707C-6326-283E-911011534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Table of Contents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5FB3888A-F203-B68E-F364-9B2A1613BD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1076847"/>
              </p:ext>
            </p:extLst>
          </p:nvPr>
        </p:nvGraphicFramePr>
        <p:xfrm>
          <a:off x="499872" y="2606040"/>
          <a:ext cx="10853928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1456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8C0E-4369-E6C9-4D55-E8CB916C4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D8F5F-FA22-EE5C-118D-2C0DA7717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169D00B8-E168-B9FC-312E-0FCF58B2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30A7B9-D304-CEE1-AD7D-72F289B18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B626BD-DCFB-3071-9E65-5A8AB6DBF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406BAD-7D43-01F0-99BE-E7706E2D3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95D173-5100-CDB6-6CB5-0D8B16CC5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7E204CF-E5E2-ED3B-B74F-6695FBDF0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347595-87E5-F556-4CCF-90DE3E833834}"/>
              </a:ext>
            </a:extLst>
          </p:cNvPr>
          <p:cNvSpPr txBox="1">
            <a:spLocks/>
          </p:cNvSpPr>
          <p:nvPr/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FFFFFF"/>
                </a:solidFill>
              </a:rPr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755427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142944-6BAA-B16A-7C91-95E6C628B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627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latin typeface="+mj-lt"/>
                <a:ea typeface="+mj-ea"/>
                <a:cs typeface="+mj-cs"/>
              </a:rPr>
              <a:t>What are we talking about?</a:t>
            </a:r>
          </a:p>
        </p:txBody>
      </p:sp>
      <p:pic>
        <p:nvPicPr>
          <p:cNvPr id="28" name="Picture 27" descr="Wood human figure">
            <a:extLst>
              <a:ext uri="{FF2B5EF4-FFF2-40B4-BE49-F238E27FC236}">
                <a16:creationId xmlns:a16="http://schemas.microsoft.com/office/drawing/2014/main" id="{E70DC5FD-0301-8C21-55E1-E9F994072A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3" r="55632" b="-2"/>
          <a:stretch>
            <a:fillRect/>
          </a:stretch>
        </p:blipFill>
        <p:spPr>
          <a:xfrm>
            <a:off x="9351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ED8CA-8335-0EF1-A74C-BC8AD917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627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To analyze and visualize </a:t>
            </a:r>
            <a:r>
              <a:rPr lang="en-US" sz="2200" b="1" dirty="0"/>
              <a:t>medical appointment data</a:t>
            </a:r>
            <a:r>
              <a:rPr lang="en-US" sz="2200" dirty="0"/>
              <a:t> to identify </a:t>
            </a:r>
            <a:r>
              <a:rPr lang="en-US" sz="2200" b="1" dirty="0"/>
              <a:t>key drivers of missed appointments</a:t>
            </a:r>
            <a:r>
              <a:rPr lang="en-US" sz="2200" dirty="0"/>
              <a:t>, </a:t>
            </a:r>
            <a:r>
              <a:rPr lang="en-US" sz="2200" b="1" dirty="0"/>
              <a:t>waiting time patterns</a:t>
            </a:r>
            <a:r>
              <a:rPr lang="en-US" sz="2200" dirty="0"/>
              <a:t>, and </a:t>
            </a:r>
            <a:r>
              <a:rPr lang="en-US" sz="2200" b="1" dirty="0"/>
              <a:t>patient behavior trends</a:t>
            </a:r>
            <a:r>
              <a:rPr lang="en-US" sz="2200" dirty="0"/>
              <a:t>, helping healthcare providers reduce no-show rates, improve scheduling efficiency, and enhance overall patient experience.</a:t>
            </a:r>
          </a:p>
        </p:txBody>
      </p:sp>
    </p:spTree>
    <p:extLst>
      <p:ext uri="{BB962C8B-B14F-4D97-AF65-F5344CB8AC3E}">
        <p14:creationId xmlns:p14="http://schemas.microsoft.com/office/powerpoint/2010/main" val="205554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126F6-792A-F916-C4CA-826967F8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F8570-CACF-7AFF-26C5-693078576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B4032028-645A-7DC5-2DAD-143A030F5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813A7D-C211-E2DF-28BA-BBA10130B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1F7D14-10E0-AD86-8EE9-AFB219941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1D8B34-AC20-4600-4ABE-80AD7AD20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EC1376-1E57-0EA7-34D0-6EC089F6D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494A0F7-3D8E-0CDD-75FB-6EA5056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BC8EB34-B088-540A-90B3-51ABA5B30A1B}"/>
              </a:ext>
            </a:extLst>
          </p:cNvPr>
          <p:cNvSpPr txBox="1">
            <a:spLocks/>
          </p:cNvSpPr>
          <p:nvPr/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FFFFFF"/>
                </a:solidFill>
              </a:rPr>
              <a:t>Business Task</a:t>
            </a:r>
          </a:p>
        </p:txBody>
      </p:sp>
    </p:spTree>
    <p:extLst>
      <p:ext uri="{BB962C8B-B14F-4D97-AF65-F5344CB8AC3E}">
        <p14:creationId xmlns:p14="http://schemas.microsoft.com/office/powerpoint/2010/main" val="316482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0CBE97-2E98-D063-A9B2-56356B207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501" y="980440"/>
            <a:ext cx="4805996" cy="208933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2000" dirty="0"/>
              <a:t>The healthcare provider aims to analyze patient appointment data to identify where and how no-show behavior and revenue leakage are concentrated across different clinic locations, patient demographics, and scheduling logistics.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The analysis focuses on answering key business questions to uncover: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9393C73C-C4AA-D081-EBA6-E9E6445BC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9" name="TextBox 5">
            <a:extLst>
              <a:ext uri="{FF2B5EF4-FFF2-40B4-BE49-F238E27FC236}">
                <a16:creationId xmlns:a16="http://schemas.microsoft.com/office/drawing/2014/main" id="{553528A7-0C4D-48BC-2260-A854B32EA2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0135624"/>
              </p:ext>
            </p:extLst>
          </p:nvPr>
        </p:nvGraphicFramePr>
        <p:xfrm>
          <a:off x="6234421" y="3015238"/>
          <a:ext cx="5991637" cy="3144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89783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AACBE-E6FB-5036-3E0A-BCB6455AC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source </a:t>
            </a:r>
          </a:p>
        </p:txBody>
      </p:sp>
    </p:spTree>
    <p:extLst>
      <p:ext uri="{BB962C8B-B14F-4D97-AF65-F5344CB8AC3E}">
        <p14:creationId xmlns:p14="http://schemas.microsoft.com/office/powerpoint/2010/main" val="2513535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AEC4F-7643-54C8-6C17-2986E7CD2D11}"/>
              </a:ext>
            </a:extLst>
          </p:cNvPr>
          <p:cNvSpPr txBox="1"/>
          <p:nvPr/>
        </p:nvSpPr>
        <p:spPr>
          <a:xfrm>
            <a:off x="6248400" y="365125"/>
            <a:ext cx="5105398" cy="1952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set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6116569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2F2C338D-E56B-8A5D-17A5-D73CDBAD8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134" y="1918107"/>
            <a:ext cx="3195204" cy="3195204"/>
          </a:xfrm>
          <a:prstGeom prst="rect">
            <a:avLst/>
          </a:prstGeom>
        </p:spPr>
      </p:pic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9EB9C435-50E3-6D31-3EFF-C312DC7B6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0" y="2497257"/>
            <a:ext cx="5943600" cy="3679705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/>
            <a:r>
              <a:rPr lang="en-US" sz="1900" dirty="0"/>
              <a:t>The dataset used in this analysis comes from the </a:t>
            </a:r>
            <a:r>
              <a:rPr lang="en-US" sz="1900" b="1" dirty="0">
                <a:hlinkClick r:id="rId4"/>
              </a:rPr>
              <a:t>Medical Appointment No Show </a:t>
            </a:r>
            <a:r>
              <a:rPr lang="en-US" sz="1900" dirty="0"/>
              <a:t>— available on </a:t>
            </a:r>
            <a:r>
              <a:rPr lang="en-US" sz="1900" dirty="0">
                <a:hlinkClick r:id="rId5"/>
              </a:rPr>
              <a:t>Kaggle</a:t>
            </a:r>
            <a:endParaRPr lang="en-US" sz="1900" dirty="0"/>
          </a:p>
          <a:p>
            <a:pPr marL="0" indent="0">
              <a:buNone/>
            </a:pPr>
            <a:br>
              <a:rPr lang="en-US" sz="1900" dirty="0"/>
            </a:br>
            <a:r>
              <a:rPr lang="en-US" sz="1900" b="1" dirty="0"/>
              <a:t>License:</a:t>
            </a:r>
            <a:r>
              <a:rPr lang="en-US" sz="1900" dirty="0"/>
              <a:t> Open dataset provided for educational and analytical purposes.</a:t>
            </a:r>
            <a:br>
              <a:rPr lang="en-US" sz="1900" dirty="0"/>
            </a:br>
            <a:r>
              <a:rPr lang="en-US" sz="1900" dirty="0"/>
              <a:t>The data has been used strictly for </a:t>
            </a:r>
            <a:r>
              <a:rPr lang="en-US" sz="1900" b="1" dirty="0"/>
              <a:t>learning and non-commercial analysis</a:t>
            </a:r>
            <a:r>
              <a:rPr lang="en-US" sz="1900" dirty="0"/>
              <a:t>.</a:t>
            </a:r>
          </a:p>
          <a:p>
            <a:pPr marL="0"/>
            <a:endParaRPr lang="en-US" sz="1900" dirty="0"/>
          </a:p>
          <a:p>
            <a:pPr marL="0"/>
            <a:endParaRPr lang="en-US" sz="1900" dirty="0"/>
          </a:p>
          <a:p>
            <a:pPr marL="0"/>
            <a:r>
              <a:rPr lang="en-US" sz="1900" b="1" dirty="0"/>
              <a:t>Data License:</a:t>
            </a:r>
            <a:br>
              <a:rPr lang="en-US" sz="1900" dirty="0"/>
            </a:br>
            <a:r>
              <a:rPr lang="en-US" sz="1900" dirty="0"/>
              <a:t>© Motivate International Inc. | Public data used for educational purposes only.</a:t>
            </a:r>
          </a:p>
        </p:txBody>
      </p:sp>
    </p:spTree>
    <p:extLst>
      <p:ext uri="{BB962C8B-B14F-4D97-AF65-F5344CB8AC3E}">
        <p14:creationId xmlns:p14="http://schemas.microsoft.com/office/powerpoint/2010/main" val="1456590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1E9B3-65CE-47E4-15C9-594A5A699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cleaning summary</a:t>
            </a:r>
          </a:p>
        </p:txBody>
      </p:sp>
    </p:spTree>
    <p:extLst>
      <p:ext uri="{BB962C8B-B14F-4D97-AF65-F5344CB8AC3E}">
        <p14:creationId xmlns:p14="http://schemas.microsoft.com/office/powerpoint/2010/main" val="320922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897DEB4-4A88-4293-A935-9B25506C1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BE42BC3-6707-4CBF-9386-048B994A4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886" y="0"/>
            <a:ext cx="7538114" cy="6858000"/>
          </a:xfrm>
          <a:custGeom>
            <a:avLst/>
            <a:gdLst>
              <a:gd name="connsiteX0" fmla="*/ 366246 w 7538114"/>
              <a:gd name="connsiteY0" fmla="*/ 0 h 6858000"/>
              <a:gd name="connsiteX1" fmla="*/ 2830292 w 7538114"/>
              <a:gd name="connsiteY1" fmla="*/ 0 h 6858000"/>
              <a:gd name="connsiteX2" fmla="*/ 3903260 w 7538114"/>
              <a:gd name="connsiteY2" fmla="*/ 0 h 6858000"/>
              <a:gd name="connsiteX3" fmla="*/ 4597266 w 7538114"/>
              <a:gd name="connsiteY3" fmla="*/ 0 h 6858000"/>
              <a:gd name="connsiteX4" fmla="*/ 7192370 w 7538114"/>
              <a:gd name="connsiteY4" fmla="*/ 0 h 6858000"/>
              <a:gd name="connsiteX5" fmla="*/ 7538114 w 7538114"/>
              <a:gd name="connsiteY5" fmla="*/ 0 h 6858000"/>
              <a:gd name="connsiteX6" fmla="*/ 7538114 w 7538114"/>
              <a:gd name="connsiteY6" fmla="*/ 6858000 h 6858000"/>
              <a:gd name="connsiteX7" fmla="*/ 7192370 w 7538114"/>
              <a:gd name="connsiteY7" fmla="*/ 6858000 h 6858000"/>
              <a:gd name="connsiteX8" fmla="*/ 4597266 w 7538114"/>
              <a:gd name="connsiteY8" fmla="*/ 6858000 h 6858000"/>
              <a:gd name="connsiteX9" fmla="*/ 3903260 w 7538114"/>
              <a:gd name="connsiteY9" fmla="*/ 6858000 h 6858000"/>
              <a:gd name="connsiteX10" fmla="*/ 2830292 w 7538114"/>
              <a:gd name="connsiteY10" fmla="*/ 6858000 h 6858000"/>
              <a:gd name="connsiteX11" fmla="*/ 170314 w 7538114"/>
              <a:gd name="connsiteY11" fmla="*/ 6858000 h 6858000"/>
              <a:gd name="connsiteX12" fmla="*/ 170341 w 7538114"/>
              <a:gd name="connsiteY12" fmla="*/ 6857759 h 6858000"/>
              <a:gd name="connsiteX13" fmla="*/ 173485 w 7538114"/>
              <a:gd name="connsiteY13" fmla="*/ 6852129 h 6858000"/>
              <a:gd name="connsiteX14" fmla="*/ 167544 w 7538114"/>
              <a:gd name="connsiteY14" fmla="*/ 6830335 h 6858000"/>
              <a:gd name="connsiteX15" fmla="*/ 163472 w 7538114"/>
              <a:gd name="connsiteY15" fmla="*/ 6796707 h 6858000"/>
              <a:gd name="connsiteX16" fmla="*/ 160535 w 7538114"/>
              <a:gd name="connsiteY16" fmla="*/ 6780725 h 6858000"/>
              <a:gd name="connsiteX17" fmla="*/ 162318 w 7538114"/>
              <a:gd name="connsiteY17" fmla="*/ 6767829 h 6858000"/>
              <a:gd name="connsiteX18" fmla="*/ 162771 w 7538114"/>
              <a:gd name="connsiteY18" fmla="*/ 6694444 h 6858000"/>
              <a:gd name="connsiteX19" fmla="*/ 165604 w 7538114"/>
              <a:gd name="connsiteY19" fmla="*/ 6677569 h 6858000"/>
              <a:gd name="connsiteX20" fmla="*/ 171255 w 7538114"/>
              <a:gd name="connsiteY20" fmla="*/ 6669571 h 6858000"/>
              <a:gd name="connsiteX21" fmla="*/ 169240 w 7538114"/>
              <a:gd name="connsiteY21" fmla="*/ 6663304 h 6858000"/>
              <a:gd name="connsiteX22" fmla="*/ 169039 w 7538114"/>
              <a:gd name="connsiteY22" fmla="*/ 6618916 h 6858000"/>
              <a:gd name="connsiteX23" fmla="*/ 168392 w 7538114"/>
              <a:gd name="connsiteY23" fmla="*/ 6589960 h 6858000"/>
              <a:gd name="connsiteX24" fmla="*/ 160636 w 7538114"/>
              <a:gd name="connsiteY24" fmla="*/ 6588200 h 6858000"/>
              <a:gd name="connsiteX25" fmla="*/ 157872 w 7538114"/>
              <a:gd name="connsiteY25" fmla="*/ 6562416 h 6858000"/>
              <a:gd name="connsiteX26" fmla="*/ 162851 w 7538114"/>
              <a:gd name="connsiteY26" fmla="*/ 6534939 h 6858000"/>
              <a:gd name="connsiteX27" fmla="*/ 162153 w 7538114"/>
              <a:gd name="connsiteY27" fmla="*/ 6502552 h 6858000"/>
              <a:gd name="connsiteX28" fmla="*/ 161821 w 7538114"/>
              <a:gd name="connsiteY28" fmla="*/ 6483172 h 6858000"/>
              <a:gd name="connsiteX29" fmla="*/ 154586 w 7538114"/>
              <a:gd name="connsiteY29" fmla="*/ 6432309 h 6858000"/>
              <a:gd name="connsiteX30" fmla="*/ 127078 w 7538114"/>
              <a:gd name="connsiteY30" fmla="*/ 6349783 h 6858000"/>
              <a:gd name="connsiteX31" fmla="*/ 123181 w 7538114"/>
              <a:gd name="connsiteY31" fmla="*/ 6323872 h 6858000"/>
              <a:gd name="connsiteX32" fmla="*/ 124767 w 7538114"/>
              <a:gd name="connsiteY32" fmla="*/ 6319343 h 6858000"/>
              <a:gd name="connsiteX33" fmla="*/ 108246 w 7538114"/>
              <a:gd name="connsiteY33" fmla="*/ 6190348 h 6858000"/>
              <a:gd name="connsiteX34" fmla="*/ 107279 w 7538114"/>
              <a:gd name="connsiteY34" fmla="*/ 6167269 h 6858000"/>
              <a:gd name="connsiteX35" fmla="*/ 107883 w 7538114"/>
              <a:gd name="connsiteY35" fmla="*/ 6149986 h 6858000"/>
              <a:gd name="connsiteX36" fmla="*/ 102380 w 7538114"/>
              <a:gd name="connsiteY36" fmla="*/ 6108622 h 6858000"/>
              <a:gd name="connsiteX37" fmla="*/ 90314 w 7538114"/>
              <a:gd name="connsiteY37" fmla="*/ 6041155 h 6858000"/>
              <a:gd name="connsiteX38" fmla="*/ 88409 w 7538114"/>
              <a:gd name="connsiteY38" fmla="*/ 6026587 h 6858000"/>
              <a:gd name="connsiteX39" fmla="*/ 89403 w 7538114"/>
              <a:gd name="connsiteY39" fmla="*/ 6013265 h 6858000"/>
              <a:gd name="connsiteX40" fmla="*/ 91927 w 7538114"/>
              <a:gd name="connsiteY40" fmla="*/ 6009478 h 6858000"/>
              <a:gd name="connsiteX41" fmla="*/ 91302 w 7538114"/>
              <a:gd name="connsiteY41" fmla="*/ 6001336 h 6858000"/>
              <a:gd name="connsiteX42" fmla="*/ 91687 w 7538114"/>
              <a:gd name="connsiteY42" fmla="*/ 5999003 h 6858000"/>
              <a:gd name="connsiteX43" fmla="*/ 93336 w 7538114"/>
              <a:gd name="connsiteY43" fmla="*/ 5985795 h 6858000"/>
              <a:gd name="connsiteX44" fmla="*/ 83190 w 7538114"/>
              <a:gd name="connsiteY44" fmla="*/ 5961758 h 6858000"/>
              <a:gd name="connsiteX45" fmla="*/ 81952 w 7538114"/>
              <a:gd name="connsiteY45" fmla="*/ 5928761 h 6858000"/>
              <a:gd name="connsiteX46" fmla="*/ 67420 w 7538114"/>
              <a:gd name="connsiteY46" fmla="*/ 5787247 h 6858000"/>
              <a:gd name="connsiteX47" fmla="*/ 50760 w 7538114"/>
              <a:gd name="connsiteY47" fmla="*/ 5710700 h 6858000"/>
              <a:gd name="connsiteX48" fmla="*/ 42956 w 7538114"/>
              <a:gd name="connsiteY48" fmla="*/ 5641754 h 6858000"/>
              <a:gd name="connsiteX49" fmla="*/ 29695 w 7538114"/>
              <a:gd name="connsiteY49" fmla="*/ 5602326 h 6858000"/>
              <a:gd name="connsiteX50" fmla="*/ 18841 w 7538114"/>
              <a:gd name="connsiteY50" fmla="*/ 5570885 h 6858000"/>
              <a:gd name="connsiteX51" fmla="*/ 9977 w 7538114"/>
              <a:gd name="connsiteY51" fmla="*/ 5543492 h 6858000"/>
              <a:gd name="connsiteX52" fmla="*/ 5255 w 7538114"/>
              <a:gd name="connsiteY52" fmla="*/ 5531024 h 6858000"/>
              <a:gd name="connsiteX53" fmla="*/ 5447 w 7538114"/>
              <a:gd name="connsiteY53" fmla="*/ 5527845 h 6858000"/>
              <a:gd name="connsiteX54" fmla="*/ 0 w 7538114"/>
              <a:gd name="connsiteY54" fmla="*/ 5507724 h 6858000"/>
              <a:gd name="connsiteX55" fmla="*/ 435 w 7538114"/>
              <a:gd name="connsiteY55" fmla="*/ 5507045 h 6858000"/>
              <a:gd name="connsiteX56" fmla="*/ 1128 w 7538114"/>
              <a:gd name="connsiteY56" fmla="*/ 5499619 h 6858000"/>
              <a:gd name="connsiteX57" fmla="*/ 1291 w 7538114"/>
              <a:gd name="connsiteY57" fmla="*/ 5486342 h 6858000"/>
              <a:gd name="connsiteX58" fmla="*/ 7976 w 7538114"/>
              <a:gd name="connsiteY58" fmla="*/ 5450755 h 6858000"/>
              <a:gd name="connsiteX59" fmla="*/ 2355 w 7538114"/>
              <a:gd name="connsiteY59" fmla="*/ 5429732 h 6858000"/>
              <a:gd name="connsiteX60" fmla="*/ 1499 w 7538114"/>
              <a:gd name="connsiteY60" fmla="*/ 5370432 h 6858000"/>
              <a:gd name="connsiteX61" fmla="*/ 11483 w 7538114"/>
              <a:gd name="connsiteY61" fmla="*/ 5308330 h 6858000"/>
              <a:gd name="connsiteX62" fmla="*/ 12793 w 7538114"/>
              <a:gd name="connsiteY62" fmla="*/ 5246026 h 6858000"/>
              <a:gd name="connsiteX63" fmla="*/ 12525 w 7538114"/>
              <a:gd name="connsiteY63" fmla="*/ 5223468 h 6858000"/>
              <a:gd name="connsiteX64" fmla="*/ 15322 w 7538114"/>
              <a:gd name="connsiteY64" fmla="*/ 5183258 h 6858000"/>
              <a:gd name="connsiteX65" fmla="*/ 18633 w 7538114"/>
              <a:gd name="connsiteY65" fmla="*/ 5164842 h 6858000"/>
              <a:gd name="connsiteX66" fmla="*/ 18428 w 7538114"/>
              <a:gd name="connsiteY66" fmla="*/ 5164034 h 6858000"/>
              <a:gd name="connsiteX67" fmla="*/ 19854 w 7538114"/>
              <a:gd name="connsiteY67" fmla="*/ 5162388 h 6858000"/>
              <a:gd name="connsiteX68" fmla="*/ 20514 w 7538114"/>
              <a:gd name="connsiteY68" fmla="*/ 5158981 h 6858000"/>
              <a:gd name="connsiteX69" fmla="*/ 20089 w 7538114"/>
              <a:gd name="connsiteY69" fmla="*/ 5149681 h 6858000"/>
              <a:gd name="connsiteX70" fmla="*/ 19561 w 7538114"/>
              <a:gd name="connsiteY70" fmla="*/ 5146183 h 6858000"/>
              <a:gd name="connsiteX71" fmla="*/ 19571 w 7538114"/>
              <a:gd name="connsiteY71" fmla="*/ 5141065 h 6858000"/>
              <a:gd name="connsiteX72" fmla="*/ 19690 w 7538114"/>
              <a:gd name="connsiteY72" fmla="*/ 5140937 h 6858000"/>
              <a:gd name="connsiteX73" fmla="*/ 19471 w 7538114"/>
              <a:gd name="connsiteY73" fmla="*/ 5136144 h 6858000"/>
              <a:gd name="connsiteX74" fmla="*/ 16918 w 7538114"/>
              <a:gd name="connsiteY74" fmla="*/ 5112689 h 6858000"/>
              <a:gd name="connsiteX75" fmla="*/ 28071 w 7538114"/>
              <a:gd name="connsiteY75" fmla="*/ 5081696 h 6858000"/>
              <a:gd name="connsiteX76" fmla="*/ 30005 w 7538114"/>
              <a:gd name="connsiteY76" fmla="*/ 5068879 h 6858000"/>
              <a:gd name="connsiteX77" fmla="*/ 31661 w 7538114"/>
              <a:gd name="connsiteY77" fmla="*/ 5062033 h 6858000"/>
              <a:gd name="connsiteX78" fmla="*/ 32169 w 7538114"/>
              <a:gd name="connsiteY78" fmla="*/ 5061608 h 6858000"/>
              <a:gd name="connsiteX79" fmla="*/ 27436 w 7538114"/>
              <a:gd name="connsiteY79" fmla="*/ 5021480 h 6858000"/>
              <a:gd name="connsiteX80" fmla="*/ 26614 w 7538114"/>
              <a:gd name="connsiteY80" fmla="*/ 5013906 h 6858000"/>
              <a:gd name="connsiteX81" fmla="*/ 25056 w 7538114"/>
              <a:gd name="connsiteY81" fmla="*/ 5011767 h 6858000"/>
              <a:gd name="connsiteX82" fmla="*/ 24513 w 7538114"/>
              <a:gd name="connsiteY82" fmla="*/ 5000592 h 6858000"/>
              <a:gd name="connsiteX83" fmla="*/ 24951 w 7538114"/>
              <a:gd name="connsiteY83" fmla="*/ 4999307 h 6858000"/>
              <a:gd name="connsiteX84" fmla="*/ 22644 w 7538114"/>
              <a:gd name="connsiteY84" fmla="*/ 4990090 h 6858000"/>
              <a:gd name="connsiteX85" fmla="*/ 18465 w 7538114"/>
              <a:gd name="connsiteY85" fmla="*/ 4982366 h 6858000"/>
              <a:gd name="connsiteX86" fmla="*/ 20888 w 7538114"/>
              <a:gd name="connsiteY86" fmla="*/ 4887310 h 6858000"/>
              <a:gd name="connsiteX87" fmla="*/ 15781 w 7538114"/>
              <a:gd name="connsiteY87" fmla="*/ 4807298 h 6858000"/>
              <a:gd name="connsiteX88" fmla="*/ 19649 w 7538114"/>
              <a:gd name="connsiteY88" fmla="*/ 4779990 h 6858000"/>
              <a:gd name="connsiteX89" fmla="*/ 21858 w 7538114"/>
              <a:gd name="connsiteY89" fmla="*/ 4664237 h 6858000"/>
              <a:gd name="connsiteX90" fmla="*/ 13583 w 7538114"/>
              <a:gd name="connsiteY90" fmla="*/ 4598607 h 6858000"/>
              <a:gd name="connsiteX91" fmla="*/ 7118 w 7538114"/>
              <a:gd name="connsiteY91" fmla="*/ 4546768 h 6858000"/>
              <a:gd name="connsiteX92" fmla="*/ 14555 w 7538114"/>
              <a:gd name="connsiteY92" fmla="*/ 4522182 h 6858000"/>
              <a:gd name="connsiteX93" fmla="*/ 17290 w 7538114"/>
              <a:gd name="connsiteY93" fmla="*/ 4509768 h 6858000"/>
              <a:gd name="connsiteX94" fmla="*/ 17421 w 7538114"/>
              <a:gd name="connsiteY94" fmla="*/ 4494586 h 6858000"/>
              <a:gd name="connsiteX95" fmla="*/ 18193 w 7538114"/>
              <a:gd name="connsiteY95" fmla="*/ 4440649 h 6858000"/>
              <a:gd name="connsiteX96" fmla="*/ 16616 w 7538114"/>
              <a:gd name="connsiteY96" fmla="*/ 4431853 h 6858000"/>
              <a:gd name="connsiteX97" fmla="*/ 19246 w 7538114"/>
              <a:gd name="connsiteY97" fmla="*/ 4403141 h 6858000"/>
              <a:gd name="connsiteX98" fmla="*/ 19623 w 7538114"/>
              <a:gd name="connsiteY98" fmla="*/ 4356631 h 6858000"/>
              <a:gd name="connsiteX99" fmla="*/ 20293 w 7538114"/>
              <a:gd name="connsiteY99" fmla="*/ 4339937 h 6858000"/>
              <a:gd name="connsiteX100" fmla="*/ 18752 w 7538114"/>
              <a:gd name="connsiteY100" fmla="*/ 4331435 h 6858000"/>
              <a:gd name="connsiteX101" fmla="*/ 24901 w 7538114"/>
              <a:gd name="connsiteY101" fmla="*/ 4320990 h 6858000"/>
              <a:gd name="connsiteX102" fmla="*/ 23734 w 7538114"/>
              <a:gd name="connsiteY102" fmla="*/ 4309111 h 6858000"/>
              <a:gd name="connsiteX103" fmla="*/ 29040 w 7538114"/>
              <a:gd name="connsiteY103" fmla="*/ 4263489 h 6858000"/>
              <a:gd name="connsiteX104" fmla="*/ 29429 w 7538114"/>
              <a:gd name="connsiteY104" fmla="*/ 4258775 h 6858000"/>
              <a:gd name="connsiteX105" fmla="*/ 33702 w 7538114"/>
              <a:gd name="connsiteY105" fmla="*/ 4248512 h 6858000"/>
              <a:gd name="connsiteX106" fmla="*/ 37356 w 7538114"/>
              <a:gd name="connsiteY106" fmla="*/ 4228644 h 6858000"/>
              <a:gd name="connsiteX107" fmla="*/ 50107 w 7538114"/>
              <a:gd name="connsiteY107" fmla="*/ 4193665 h 6858000"/>
              <a:gd name="connsiteX108" fmla="*/ 56192 w 7538114"/>
              <a:gd name="connsiteY108" fmla="*/ 4173105 h 6858000"/>
              <a:gd name="connsiteX109" fmla="*/ 61800 w 7538114"/>
              <a:gd name="connsiteY109" fmla="*/ 4159194 h 6858000"/>
              <a:gd name="connsiteX110" fmla="*/ 69720 w 7538114"/>
              <a:gd name="connsiteY110" fmla="*/ 4118135 h 6858000"/>
              <a:gd name="connsiteX111" fmla="*/ 80190 w 7538114"/>
              <a:gd name="connsiteY111" fmla="*/ 4047713 h 6858000"/>
              <a:gd name="connsiteX112" fmla="*/ 96666 w 7538114"/>
              <a:gd name="connsiteY112" fmla="*/ 3980780 h 6858000"/>
              <a:gd name="connsiteX113" fmla="*/ 107651 w 7538114"/>
              <a:gd name="connsiteY113" fmla="*/ 3941872 h 6858000"/>
              <a:gd name="connsiteX114" fmla="*/ 118444 w 7538114"/>
              <a:gd name="connsiteY114" fmla="*/ 3897465 h 6858000"/>
              <a:gd name="connsiteX115" fmla="*/ 134545 w 7538114"/>
              <a:gd name="connsiteY115" fmla="*/ 3811132 h 6858000"/>
              <a:gd name="connsiteX116" fmla="*/ 145381 w 7538114"/>
              <a:gd name="connsiteY116" fmla="*/ 3746540 h 6858000"/>
              <a:gd name="connsiteX117" fmla="*/ 146587 w 7538114"/>
              <a:gd name="connsiteY117" fmla="*/ 3670275 h 6858000"/>
              <a:gd name="connsiteX118" fmla="*/ 165690 w 7538114"/>
              <a:gd name="connsiteY118" fmla="*/ 3580981 h 6858000"/>
              <a:gd name="connsiteX119" fmla="*/ 163175 w 7538114"/>
              <a:gd name="connsiteY119" fmla="*/ 3570960 h 6858000"/>
              <a:gd name="connsiteX120" fmla="*/ 162665 w 7538114"/>
              <a:gd name="connsiteY120" fmla="*/ 3560693 h 6858000"/>
              <a:gd name="connsiteX121" fmla="*/ 163299 w 7538114"/>
              <a:gd name="connsiteY121" fmla="*/ 3559743 h 6858000"/>
              <a:gd name="connsiteX122" fmla="*/ 164777 w 7538114"/>
              <a:gd name="connsiteY122" fmla="*/ 3548721 h 6858000"/>
              <a:gd name="connsiteX123" fmla="*/ 163708 w 7538114"/>
              <a:gd name="connsiteY123" fmla="*/ 3545693 h 6858000"/>
              <a:gd name="connsiteX124" fmla="*/ 164286 w 7538114"/>
              <a:gd name="connsiteY124" fmla="*/ 3537938 h 6858000"/>
              <a:gd name="connsiteX125" fmla="*/ 164247 w 7538114"/>
              <a:gd name="connsiteY125" fmla="*/ 3522141 h 6858000"/>
              <a:gd name="connsiteX126" fmla="*/ 165343 w 7538114"/>
              <a:gd name="connsiteY126" fmla="*/ 3519672 h 6858000"/>
              <a:gd name="connsiteX127" fmla="*/ 167001 w 7538114"/>
              <a:gd name="connsiteY127" fmla="*/ 3496604 h 6858000"/>
              <a:gd name="connsiteX128" fmla="*/ 167547 w 7538114"/>
              <a:gd name="connsiteY128" fmla="*/ 3496517 h 6858000"/>
              <a:gd name="connsiteX129" fmla="*/ 170301 w 7538114"/>
              <a:gd name="connsiteY129" fmla="*/ 3491023 h 6858000"/>
              <a:gd name="connsiteX130" fmla="*/ 174371 w 7538114"/>
              <a:gd name="connsiteY130" fmla="*/ 3479998 h 6858000"/>
              <a:gd name="connsiteX131" fmla="*/ 190228 w 7538114"/>
              <a:gd name="connsiteY131" fmla="*/ 3457434 h 6858000"/>
              <a:gd name="connsiteX132" fmla="*/ 192016 w 7538114"/>
              <a:gd name="connsiteY132" fmla="*/ 3433411 h 6858000"/>
              <a:gd name="connsiteX133" fmla="*/ 192663 w 7538114"/>
              <a:gd name="connsiteY133" fmla="*/ 3428691 h 6858000"/>
              <a:gd name="connsiteX134" fmla="*/ 192793 w 7538114"/>
              <a:gd name="connsiteY134" fmla="*/ 3428643 h 6858000"/>
              <a:gd name="connsiteX135" fmla="*/ 193710 w 7538114"/>
              <a:gd name="connsiteY135" fmla="*/ 3423760 h 6858000"/>
              <a:gd name="connsiteX136" fmla="*/ 193839 w 7538114"/>
              <a:gd name="connsiteY136" fmla="*/ 3420085 h 6858000"/>
              <a:gd name="connsiteX137" fmla="*/ 195094 w 7538114"/>
              <a:gd name="connsiteY137" fmla="*/ 3410930 h 6858000"/>
              <a:gd name="connsiteX138" fmla="*/ 196311 w 7538114"/>
              <a:gd name="connsiteY138" fmla="*/ 3408092 h 6858000"/>
              <a:gd name="connsiteX139" fmla="*/ 197928 w 7538114"/>
              <a:gd name="connsiteY139" fmla="*/ 3407419 h 6858000"/>
              <a:gd name="connsiteX140" fmla="*/ 197881 w 7538114"/>
              <a:gd name="connsiteY140" fmla="*/ 3406520 h 6858000"/>
              <a:gd name="connsiteX141" fmla="*/ 204222 w 7538114"/>
              <a:gd name="connsiteY141" fmla="*/ 3391015 h 6858000"/>
              <a:gd name="connsiteX142" fmla="*/ 213950 w 7538114"/>
              <a:gd name="connsiteY142" fmla="*/ 3354361 h 6858000"/>
              <a:gd name="connsiteX143" fmla="*/ 217699 w 7538114"/>
              <a:gd name="connsiteY143" fmla="*/ 3332639 h 6858000"/>
              <a:gd name="connsiteX144" fmla="*/ 229963 w 7538114"/>
              <a:gd name="connsiteY144" fmla="*/ 3273935 h 6858000"/>
              <a:gd name="connsiteX145" fmla="*/ 243785 w 7538114"/>
              <a:gd name="connsiteY145" fmla="*/ 3215621 h 6858000"/>
              <a:gd name="connsiteX146" fmla="*/ 259175 w 7538114"/>
              <a:gd name="connsiteY146" fmla="*/ 3189909 h 6858000"/>
              <a:gd name="connsiteX147" fmla="*/ 259988 w 7538114"/>
              <a:gd name="connsiteY147" fmla="*/ 3186579 h 6858000"/>
              <a:gd name="connsiteX148" fmla="*/ 259980 w 7538114"/>
              <a:gd name="connsiteY148" fmla="*/ 3177264 h 6858000"/>
              <a:gd name="connsiteX149" fmla="*/ 259609 w 7538114"/>
              <a:gd name="connsiteY149" fmla="*/ 3173723 h 6858000"/>
              <a:gd name="connsiteX150" fmla="*/ 259848 w 7538114"/>
              <a:gd name="connsiteY150" fmla="*/ 3168622 h 6858000"/>
              <a:gd name="connsiteX151" fmla="*/ 259971 w 7538114"/>
              <a:gd name="connsiteY151" fmla="*/ 3168508 h 6858000"/>
              <a:gd name="connsiteX152" fmla="*/ 259966 w 7538114"/>
              <a:gd name="connsiteY152" fmla="*/ 3163706 h 6858000"/>
              <a:gd name="connsiteX153" fmla="*/ 258467 w 7538114"/>
              <a:gd name="connsiteY153" fmla="*/ 3140064 h 6858000"/>
              <a:gd name="connsiteX154" fmla="*/ 270990 w 7538114"/>
              <a:gd name="connsiteY154" fmla="*/ 3110288 h 6858000"/>
              <a:gd name="connsiteX155" fmla="*/ 273494 w 7538114"/>
              <a:gd name="connsiteY155" fmla="*/ 3097704 h 6858000"/>
              <a:gd name="connsiteX156" fmla="*/ 275456 w 7538114"/>
              <a:gd name="connsiteY156" fmla="*/ 3091047 h 6858000"/>
              <a:gd name="connsiteX157" fmla="*/ 275980 w 7538114"/>
              <a:gd name="connsiteY157" fmla="*/ 3090672 h 6858000"/>
              <a:gd name="connsiteX158" fmla="*/ 274486 w 7538114"/>
              <a:gd name="connsiteY158" fmla="*/ 3068004 h 6858000"/>
              <a:gd name="connsiteX159" fmla="*/ 275226 w 7538114"/>
              <a:gd name="connsiteY159" fmla="*/ 3065087 h 6858000"/>
              <a:gd name="connsiteX160" fmla="*/ 273050 w 7538114"/>
              <a:gd name="connsiteY160" fmla="*/ 3050191 h 6858000"/>
              <a:gd name="connsiteX161" fmla="*/ 272566 w 7538114"/>
              <a:gd name="connsiteY161" fmla="*/ 3042559 h 6858000"/>
              <a:gd name="connsiteX162" fmla="*/ 271107 w 7538114"/>
              <a:gd name="connsiteY162" fmla="*/ 3040271 h 6858000"/>
              <a:gd name="connsiteX163" fmla="*/ 271065 w 7538114"/>
              <a:gd name="connsiteY163" fmla="*/ 3029072 h 6858000"/>
              <a:gd name="connsiteX164" fmla="*/ 271558 w 7538114"/>
              <a:gd name="connsiteY164" fmla="*/ 3027835 h 6858000"/>
              <a:gd name="connsiteX165" fmla="*/ 268717 w 7538114"/>
              <a:gd name="connsiteY165" fmla="*/ 2964245 h 6858000"/>
              <a:gd name="connsiteX166" fmla="*/ 272511 w 7538114"/>
              <a:gd name="connsiteY166" fmla="*/ 2915772 h 6858000"/>
              <a:gd name="connsiteX167" fmla="*/ 270356 w 7538114"/>
              <a:gd name="connsiteY167" fmla="*/ 2825842 h 6858000"/>
              <a:gd name="connsiteX168" fmla="*/ 273897 w 7538114"/>
              <a:gd name="connsiteY168" fmla="*/ 2734957 h 6858000"/>
              <a:gd name="connsiteX169" fmla="*/ 274458 w 7538114"/>
              <a:gd name="connsiteY169" fmla="*/ 2636572 h 6858000"/>
              <a:gd name="connsiteX170" fmla="*/ 279157 w 7538114"/>
              <a:gd name="connsiteY170" fmla="*/ 2604260 h 6858000"/>
              <a:gd name="connsiteX171" fmla="*/ 288131 w 7538114"/>
              <a:gd name="connsiteY171" fmla="*/ 2582747 h 6858000"/>
              <a:gd name="connsiteX172" fmla="*/ 282516 w 7538114"/>
              <a:gd name="connsiteY172" fmla="*/ 2478755 h 6858000"/>
              <a:gd name="connsiteX173" fmla="*/ 287359 w 7538114"/>
              <a:gd name="connsiteY173" fmla="*/ 2451804 h 6858000"/>
              <a:gd name="connsiteX174" fmla="*/ 289577 w 7538114"/>
              <a:gd name="connsiteY174" fmla="*/ 2408801 h 6858000"/>
              <a:gd name="connsiteX175" fmla="*/ 293203 w 7538114"/>
              <a:gd name="connsiteY175" fmla="*/ 2392670 h 6858000"/>
              <a:gd name="connsiteX176" fmla="*/ 304183 w 7538114"/>
              <a:gd name="connsiteY176" fmla="*/ 2330165 h 6858000"/>
              <a:gd name="connsiteX177" fmla="*/ 310900 w 7538114"/>
              <a:gd name="connsiteY177" fmla="*/ 2276363 h 6858000"/>
              <a:gd name="connsiteX178" fmla="*/ 303909 w 7538114"/>
              <a:gd name="connsiteY178" fmla="*/ 2236310 h 6858000"/>
              <a:gd name="connsiteX179" fmla="*/ 306187 w 7538114"/>
              <a:gd name="connsiteY179" fmla="*/ 2232984 h 6858000"/>
              <a:gd name="connsiteX180" fmla="*/ 307158 w 7538114"/>
              <a:gd name="connsiteY180" fmla="*/ 2205763 h 6858000"/>
              <a:gd name="connsiteX181" fmla="*/ 304860 w 7538114"/>
              <a:gd name="connsiteY181" fmla="*/ 2145703 h 6858000"/>
              <a:gd name="connsiteX182" fmla="*/ 304273 w 7538114"/>
              <a:gd name="connsiteY182" fmla="*/ 2092533 h 6858000"/>
              <a:gd name="connsiteX183" fmla="*/ 301642 w 7538114"/>
              <a:gd name="connsiteY183" fmla="*/ 2057359 h 6858000"/>
              <a:gd name="connsiteX184" fmla="*/ 306736 w 7538114"/>
              <a:gd name="connsiteY184" fmla="*/ 2016105 h 6858000"/>
              <a:gd name="connsiteX185" fmla="*/ 316234 w 7538114"/>
              <a:gd name="connsiteY185" fmla="*/ 1983129 h 6858000"/>
              <a:gd name="connsiteX186" fmla="*/ 318238 w 7538114"/>
              <a:gd name="connsiteY186" fmla="*/ 1956745 h 6858000"/>
              <a:gd name="connsiteX187" fmla="*/ 311341 w 7538114"/>
              <a:gd name="connsiteY187" fmla="*/ 1950160 h 6858000"/>
              <a:gd name="connsiteX188" fmla="*/ 323556 w 7538114"/>
              <a:gd name="connsiteY188" fmla="*/ 1879546 h 6858000"/>
              <a:gd name="connsiteX189" fmla="*/ 326085 w 7538114"/>
              <a:gd name="connsiteY189" fmla="*/ 1854893 h 6858000"/>
              <a:gd name="connsiteX190" fmla="*/ 335058 w 7538114"/>
              <a:gd name="connsiteY190" fmla="*/ 1787684 h 6858000"/>
              <a:gd name="connsiteX191" fmla="*/ 345620 w 7538114"/>
              <a:gd name="connsiteY191" fmla="*/ 1720464 h 6858000"/>
              <a:gd name="connsiteX192" fmla="*/ 360760 w 7538114"/>
              <a:gd name="connsiteY192" fmla="*/ 1681196 h 6858000"/>
              <a:gd name="connsiteX193" fmla="*/ 368483 w 7538114"/>
              <a:gd name="connsiteY193" fmla="*/ 1625881 h 6858000"/>
              <a:gd name="connsiteX194" fmla="*/ 371077 w 7538114"/>
              <a:gd name="connsiteY194" fmla="*/ 1616704 h 6858000"/>
              <a:gd name="connsiteX195" fmla="*/ 383008 w 7538114"/>
              <a:gd name="connsiteY195" fmla="*/ 1551493 h 6858000"/>
              <a:gd name="connsiteX196" fmla="*/ 384834 w 7538114"/>
              <a:gd name="connsiteY196" fmla="*/ 1475233 h 6858000"/>
              <a:gd name="connsiteX197" fmla="*/ 418371 w 7538114"/>
              <a:gd name="connsiteY197" fmla="*/ 1380155 h 6858000"/>
              <a:gd name="connsiteX198" fmla="*/ 469641 w 7538114"/>
              <a:gd name="connsiteY198" fmla="*/ 1210871 h 6858000"/>
              <a:gd name="connsiteX199" fmla="*/ 489701 w 7538114"/>
              <a:gd name="connsiteY199" fmla="*/ 1028427 h 6858000"/>
              <a:gd name="connsiteX200" fmla="*/ 486354 w 7538114"/>
              <a:gd name="connsiteY200" fmla="*/ 980383 h 6858000"/>
              <a:gd name="connsiteX201" fmla="*/ 479762 w 7538114"/>
              <a:gd name="connsiteY201" fmla="*/ 839699 h 6858000"/>
              <a:gd name="connsiteX202" fmla="*/ 445664 w 7538114"/>
              <a:gd name="connsiteY202" fmla="*/ 696545 h 6858000"/>
              <a:gd name="connsiteX203" fmla="*/ 440047 w 7538114"/>
              <a:gd name="connsiteY203" fmla="*/ 606615 h 6858000"/>
              <a:gd name="connsiteX204" fmla="*/ 431225 w 7538114"/>
              <a:gd name="connsiteY204" fmla="*/ 563889 h 6858000"/>
              <a:gd name="connsiteX205" fmla="*/ 430803 w 7538114"/>
              <a:gd name="connsiteY205" fmla="*/ 534294 h 6858000"/>
              <a:gd name="connsiteX206" fmla="*/ 429777 w 7538114"/>
              <a:gd name="connsiteY206" fmla="*/ 516548 h 6858000"/>
              <a:gd name="connsiteX207" fmla="*/ 415090 w 7538114"/>
              <a:gd name="connsiteY207" fmla="*/ 485808 h 6858000"/>
              <a:gd name="connsiteX208" fmla="*/ 410499 w 7538114"/>
              <a:gd name="connsiteY208" fmla="*/ 369873 h 6858000"/>
              <a:gd name="connsiteX209" fmla="*/ 425314 w 7538114"/>
              <a:gd name="connsiteY209" fmla="*/ 259180 h 6858000"/>
              <a:gd name="connsiteX210" fmla="*/ 383240 w 7538114"/>
              <a:gd name="connsiteY210" fmla="*/ 94173 h 6858000"/>
              <a:gd name="connsiteX211" fmla="*/ 379938 w 7538114"/>
              <a:gd name="connsiteY211" fmla="*/ 77267 h 6858000"/>
              <a:gd name="connsiteX212" fmla="*/ 373430 w 7538114"/>
              <a:gd name="connsiteY212" fmla="*/ 388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538114" h="6858000">
                <a:moveTo>
                  <a:pt x="366246" y="0"/>
                </a:moveTo>
                <a:lnTo>
                  <a:pt x="2830292" y="0"/>
                </a:lnTo>
                <a:lnTo>
                  <a:pt x="3903260" y="0"/>
                </a:lnTo>
                <a:lnTo>
                  <a:pt x="4597266" y="0"/>
                </a:lnTo>
                <a:lnTo>
                  <a:pt x="7192370" y="0"/>
                </a:lnTo>
                <a:lnTo>
                  <a:pt x="7538114" y="0"/>
                </a:lnTo>
                <a:lnTo>
                  <a:pt x="7538114" y="6858000"/>
                </a:lnTo>
                <a:lnTo>
                  <a:pt x="7192370" y="6858000"/>
                </a:lnTo>
                <a:lnTo>
                  <a:pt x="4597266" y="6858000"/>
                </a:lnTo>
                <a:lnTo>
                  <a:pt x="3903260" y="6858000"/>
                </a:lnTo>
                <a:lnTo>
                  <a:pt x="2830292" y="6858000"/>
                </a:lnTo>
                <a:lnTo>
                  <a:pt x="170314" y="6858000"/>
                </a:lnTo>
                <a:cubicBezTo>
                  <a:pt x="170323" y="6857920"/>
                  <a:pt x="170332" y="6857839"/>
                  <a:pt x="170341" y="6857759"/>
                </a:cubicBezTo>
                <a:lnTo>
                  <a:pt x="173485" y="6852129"/>
                </a:lnTo>
                <a:lnTo>
                  <a:pt x="167544" y="6830335"/>
                </a:lnTo>
                <a:cubicBezTo>
                  <a:pt x="165474" y="6819600"/>
                  <a:pt x="164100" y="6808301"/>
                  <a:pt x="163472" y="6796707"/>
                </a:cubicBezTo>
                <a:cubicBezTo>
                  <a:pt x="167658" y="6794106"/>
                  <a:pt x="161711" y="6785006"/>
                  <a:pt x="160535" y="6780725"/>
                </a:cubicBezTo>
                <a:cubicBezTo>
                  <a:pt x="163268" y="6780680"/>
                  <a:pt x="164578" y="6771195"/>
                  <a:pt x="162318" y="6767829"/>
                </a:cubicBezTo>
                <a:cubicBezTo>
                  <a:pt x="152545" y="6697090"/>
                  <a:pt x="178083" y="6736894"/>
                  <a:pt x="162771" y="6694444"/>
                </a:cubicBezTo>
                <a:cubicBezTo>
                  <a:pt x="161971" y="6687342"/>
                  <a:pt x="163342" y="6682014"/>
                  <a:pt x="165604" y="6677569"/>
                </a:cubicBezTo>
                <a:lnTo>
                  <a:pt x="171255" y="6669571"/>
                </a:lnTo>
                <a:lnTo>
                  <a:pt x="169240" y="6663304"/>
                </a:lnTo>
                <a:cubicBezTo>
                  <a:pt x="169082" y="6639651"/>
                  <a:pt x="174873" y="6632678"/>
                  <a:pt x="169039" y="6618916"/>
                </a:cubicBezTo>
                <a:cubicBezTo>
                  <a:pt x="181164" y="6598580"/>
                  <a:pt x="170248" y="6605428"/>
                  <a:pt x="168392" y="6589960"/>
                </a:cubicBezTo>
                <a:cubicBezTo>
                  <a:pt x="165975" y="6577758"/>
                  <a:pt x="161323" y="6600160"/>
                  <a:pt x="160636" y="6588200"/>
                </a:cubicBezTo>
                <a:cubicBezTo>
                  <a:pt x="163766" y="6575263"/>
                  <a:pt x="154044" y="6575871"/>
                  <a:pt x="157872" y="6562416"/>
                </a:cubicBezTo>
                <a:cubicBezTo>
                  <a:pt x="165196" y="6565685"/>
                  <a:pt x="156453" y="6535866"/>
                  <a:pt x="162851" y="6534939"/>
                </a:cubicBezTo>
                <a:cubicBezTo>
                  <a:pt x="153702" y="6523511"/>
                  <a:pt x="164973" y="6517769"/>
                  <a:pt x="162153" y="6502552"/>
                </a:cubicBezTo>
                <a:cubicBezTo>
                  <a:pt x="158692" y="6495386"/>
                  <a:pt x="158098" y="6490216"/>
                  <a:pt x="161821" y="6483172"/>
                </a:cubicBezTo>
                <a:cubicBezTo>
                  <a:pt x="144969" y="6450162"/>
                  <a:pt x="161066" y="6463202"/>
                  <a:pt x="154586" y="6432309"/>
                </a:cubicBezTo>
                <a:cubicBezTo>
                  <a:pt x="147771" y="6405695"/>
                  <a:pt x="143349" y="6375524"/>
                  <a:pt x="127078" y="6349783"/>
                </a:cubicBezTo>
                <a:cubicBezTo>
                  <a:pt x="122468" y="6345058"/>
                  <a:pt x="120723" y="6333456"/>
                  <a:pt x="123181" y="6323872"/>
                </a:cubicBezTo>
                <a:cubicBezTo>
                  <a:pt x="123604" y="6322225"/>
                  <a:pt x="124138" y="6320698"/>
                  <a:pt x="124767" y="6319343"/>
                </a:cubicBezTo>
                <a:cubicBezTo>
                  <a:pt x="122278" y="6297089"/>
                  <a:pt x="111161" y="6215694"/>
                  <a:pt x="108246" y="6190348"/>
                </a:cubicBezTo>
                <a:cubicBezTo>
                  <a:pt x="114169" y="6188296"/>
                  <a:pt x="103482" y="6175479"/>
                  <a:pt x="107279" y="6167269"/>
                </a:cubicBezTo>
                <a:cubicBezTo>
                  <a:pt x="110610" y="6161389"/>
                  <a:pt x="108145" y="6156128"/>
                  <a:pt x="107883" y="6149986"/>
                </a:cubicBezTo>
                <a:cubicBezTo>
                  <a:pt x="110502" y="6141894"/>
                  <a:pt x="105773" y="6115502"/>
                  <a:pt x="102380" y="6108622"/>
                </a:cubicBezTo>
                <a:cubicBezTo>
                  <a:pt x="90593" y="6092179"/>
                  <a:pt x="99346" y="6054816"/>
                  <a:pt x="90314" y="6041155"/>
                </a:cubicBezTo>
                <a:cubicBezTo>
                  <a:pt x="88990" y="6036198"/>
                  <a:pt x="88454" y="6031348"/>
                  <a:pt x="88409" y="6026587"/>
                </a:cubicBezTo>
                <a:lnTo>
                  <a:pt x="89403" y="6013265"/>
                </a:lnTo>
                <a:lnTo>
                  <a:pt x="91927" y="6009478"/>
                </a:lnTo>
                <a:lnTo>
                  <a:pt x="91302" y="6001336"/>
                </a:lnTo>
                <a:cubicBezTo>
                  <a:pt x="91431" y="6000558"/>
                  <a:pt x="91559" y="5999781"/>
                  <a:pt x="91687" y="5999003"/>
                </a:cubicBezTo>
                <a:cubicBezTo>
                  <a:pt x="92431" y="5994547"/>
                  <a:pt x="93080" y="5990148"/>
                  <a:pt x="93336" y="5985795"/>
                </a:cubicBezTo>
                <a:cubicBezTo>
                  <a:pt x="80676" y="5991520"/>
                  <a:pt x="93430" y="5949705"/>
                  <a:pt x="83190" y="5961758"/>
                </a:cubicBezTo>
                <a:cubicBezTo>
                  <a:pt x="82399" y="5938832"/>
                  <a:pt x="72862" y="5956319"/>
                  <a:pt x="81952" y="5928761"/>
                </a:cubicBezTo>
                <a:cubicBezTo>
                  <a:pt x="79324" y="5899676"/>
                  <a:pt x="72619" y="5823590"/>
                  <a:pt x="67420" y="5787247"/>
                </a:cubicBezTo>
                <a:cubicBezTo>
                  <a:pt x="53530" y="5750058"/>
                  <a:pt x="57730" y="5736292"/>
                  <a:pt x="50760" y="5710700"/>
                </a:cubicBezTo>
                <a:cubicBezTo>
                  <a:pt x="47368" y="5660911"/>
                  <a:pt x="30723" y="5663675"/>
                  <a:pt x="42956" y="5641754"/>
                </a:cubicBezTo>
                <a:cubicBezTo>
                  <a:pt x="39970" y="5608358"/>
                  <a:pt x="24769" y="5637338"/>
                  <a:pt x="29695" y="5602326"/>
                </a:cubicBezTo>
                <a:cubicBezTo>
                  <a:pt x="27700" y="5601239"/>
                  <a:pt x="20274" y="5573144"/>
                  <a:pt x="18841" y="5570885"/>
                </a:cubicBezTo>
                <a:lnTo>
                  <a:pt x="9977" y="5543492"/>
                </a:lnTo>
                <a:lnTo>
                  <a:pt x="5255" y="5531024"/>
                </a:lnTo>
                <a:lnTo>
                  <a:pt x="5447" y="5527845"/>
                </a:lnTo>
                <a:lnTo>
                  <a:pt x="0" y="5507724"/>
                </a:lnTo>
                <a:lnTo>
                  <a:pt x="435" y="5507045"/>
                </a:lnTo>
                <a:cubicBezTo>
                  <a:pt x="1286" y="5505065"/>
                  <a:pt x="1681" y="5502734"/>
                  <a:pt x="1128" y="5499619"/>
                </a:cubicBezTo>
                <a:cubicBezTo>
                  <a:pt x="9450" y="5498516"/>
                  <a:pt x="3652" y="5495435"/>
                  <a:pt x="1291" y="5486342"/>
                </a:cubicBezTo>
                <a:cubicBezTo>
                  <a:pt x="13688" y="5482600"/>
                  <a:pt x="2464" y="5460320"/>
                  <a:pt x="7976" y="5450755"/>
                </a:cubicBezTo>
                <a:cubicBezTo>
                  <a:pt x="5962" y="5444157"/>
                  <a:pt x="4058" y="5437113"/>
                  <a:pt x="2355" y="5429732"/>
                </a:cubicBezTo>
                <a:lnTo>
                  <a:pt x="1499" y="5370432"/>
                </a:lnTo>
                <a:lnTo>
                  <a:pt x="11483" y="5308330"/>
                </a:lnTo>
                <a:cubicBezTo>
                  <a:pt x="11701" y="5285359"/>
                  <a:pt x="15408" y="5265468"/>
                  <a:pt x="12793" y="5246026"/>
                </a:cubicBezTo>
                <a:cubicBezTo>
                  <a:pt x="15678" y="5238129"/>
                  <a:pt x="16842" y="5230685"/>
                  <a:pt x="12525" y="5223468"/>
                </a:cubicBezTo>
                <a:cubicBezTo>
                  <a:pt x="13966" y="5202031"/>
                  <a:pt x="20131" y="5196842"/>
                  <a:pt x="15322" y="5183258"/>
                </a:cubicBezTo>
                <a:cubicBezTo>
                  <a:pt x="25294" y="5171214"/>
                  <a:pt x="21488" y="5170502"/>
                  <a:pt x="18633" y="5164842"/>
                </a:cubicBezTo>
                <a:cubicBezTo>
                  <a:pt x="18565" y="5164573"/>
                  <a:pt x="18496" y="5164303"/>
                  <a:pt x="18428" y="5164034"/>
                </a:cubicBezTo>
                <a:lnTo>
                  <a:pt x="19854" y="5162388"/>
                </a:lnTo>
                <a:lnTo>
                  <a:pt x="20514" y="5158981"/>
                </a:lnTo>
                <a:lnTo>
                  <a:pt x="20089" y="5149681"/>
                </a:lnTo>
                <a:lnTo>
                  <a:pt x="19561" y="5146183"/>
                </a:lnTo>
                <a:cubicBezTo>
                  <a:pt x="19336" y="5143774"/>
                  <a:pt x="19361" y="5142173"/>
                  <a:pt x="19571" y="5141065"/>
                </a:cubicBezTo>
                <a:lnTo>
                  <a:pt x="19690" y="5140937"/>
                </a:lnTo>
                <a:cubicBezTo>
                  <a:pt x="19617" y="5139339"/>
                  <a:pt x="19544" y="5137742"/>
                  <a:pt x="19471" y="5136144"/>
                </a:cubicBezTo>
                <a:cubicBezTo>
                  <a:pt x="18832" y="5128055"/>
                  <a:pt x="17958" y="5120182"/>
                  <a:pt x="16918" y="5112689"/>
                </a:cubicBezTo>
                <a:cubicBezTo>
                  <a:pt x="23464" y="5106353"/>
                  <a:pt x="15733" y="5078666"/>
                  <a:pt x="28071" y="5081696"/>
                </a:cubicBezTo>
                <a:cubicBezTo>
                  <a:pt x="27036" y="5071588"/>
                  <a:pt x="21912" y="5065475"/>
                  <a:pt x="30005" y="5068879"/>
                </a:cubicBezTo>
                <a:cubicBezTo>
                  <a:pt x="29897" y="5065551"/>
                  <a:pt x="30585" y="5063501"/>
                  <a:pt x="31661" y="5062033"/>
                </a:cubicBezTo>
                <a:lnTo>
                  <a:pt x="32169" y="5061608"/>
                </a:lnTo>
                <a:lnTo>
                  <a:pt x="27436" y="5021480"/>
                </a:lnTo>
                <a:lnTo>
                  <a:pt x="26614" y="5013906"/>
                </a:lnTo>
                <a:lnTo>
                  <a:pt x="25056" y="5011767"/>
                </a:lnTo>
                <a:cubicBezTo>
                  <a:pt x="24110" y="5009457"/>
                  <a:pt x="23701" y="5006147"/>
                  <a:pt x="24513" y="5000592"/>
                </a:cubicBezTo>
                <a:lnTo>
                  <a:pt x="24951" y="4999307"/>
                </a:lnTo>
                <a:lnTo>
                  <a:pt x="22644" y="4990090"/>
                </a:lnTo>
                <a:cubicBezTo>
                  <a:pt x="21579" y="4987122"/>
                  <a:pt x="20222" y="4984494"/>
                  <a:pt x="18465" y="4982366"/>
                </a:cubicBezTo>
                <a:cubicBezTo>
                  <a:pt x="27858" y="4950984"/>
                  <a:pt x="19264" y="4921373"/>
                  <a:pt x="20888" y="4887310"/>
                </a:cubicBezTo>
                <a:cubicBezTo>
                  <a:pt x="17563" y="4848813"/>
                  <a:pt x="18386" y="4829570"/>
                  <a:pt x="15781" y="4807298"/>
                </a:cubicBezTo>
                <a:cubicBezTo>
                  <a:pt x="15634" y="4803627"/>
                  <a:pt x="14440" y="4773874"/>
                  <a:pt x="19649" y="4779990"/>
                </a:cubicBezTo>
                <a:cubicBezTo>
                  <a:pt x="18744" y="4746827"/>
                  <a:pt x="22869" y="4698305"/>
                  <a:pt x="21858" y="4664237"/>
                </a:cubicBezTo>
                <a:cubicBezTo>
                  <a:pt x="34232" y="4642340"/>
                  <a:pt x="11268" y="4621318"/>
                  <a:pt x="13583" y="4598607"/>
                </a:cubicBezTo>
                <a:cubicBezTo>
                  <a:pt x="2193" y="4604819"/>
                  <a:pt x="19974" y="4548010"/>
                  <a:pt x="7118" y="4546768"/>
                </a:cubicBezTo>
                <a:lnTo>
                  <a:pt x="14555" y="4522182"/>
                </a:lnTo>
                <a:lnTo>
                  <a:pt x="17290" y="4509768"/>
                </a:lnTo>
                <a:cubicBezTo>
                  <a:pt x="17884" y="4505118"/>
                  <a:pt x="18021" y="4500115"/>
                  <a:pt x="17421" y="4494586"/>
                </a:cubicBezTo>
                <a:cubicBezTo>
                  <a:pt x="12327" y="4480984"/>
                  <a:pt x="18571" y="4459805"/>
                  <a:pt x="18193" y="4440649"/>
                </a:cubicBezTo>
                <a:lnTo>
                  <a:pt x="16616" y="4431853"/>
                </a:lnTo>
                <a:lnTo>
                  <a:pt x="19246" y="4403141"/>
                </a:lnTo>
                <a:cubicBezTo>
                  <a:pt x="19372" y="4387638"/>
                  <a:pt x="19497" y="4372134"/>
                  <a:pt x="19623" y="4356631"/>
                </a:cubicBezTo>
                <a:cubicBezTo>
                  <a:pt x="19508" y="4349062"/>
                  <a:pt x="15847" y="4339045"/>
                  <a:pt x="20293" y="4339937"/>
                </a:cubicBezTo>
                <a:lnTo>
                  <a:pt x="18752" y="4331435"/>
                </a:lnTo>
                <a:cubicBezTo>
                  <a:pt x="19520" y="4328277"/>
                  <a:pt x="24070" y="4324711"/>
                  <a:pt x="24901" y="4320990"/>
                </a:cubicBezTo>
                <a:lnTo>
                  <a:pt x="23734" y="4309111"/>
                </a:lnTo>
                <a:cubicBezTo>
                  <a:pt x="24423" y="4299527"/>
                  <a:pt x="28090" y="4271878"/>
                  <a:pt x="29040" y="4263489"/>
                </a:cubicBezTo>
                <a:cubicBezTo>
                  <a:pt x="29169" y="4261918"/>
                  <a:pt x="29300" y="4260346"/>
                  <a:pt x="29429" y="4258775"/>
                </a:cubicBezTo>
                <a:lnTo>
                  <a:pt x="33702" y="4248512"/>
                </a:lnTo>
                <a:cubicBezTo>
                  <a:pt x="36933" y="4241044"/>
                  <a:pt x="39109" y="4235167"/>
                  <a:pt x="37356" y="4228644"/>
                </a:cubicBezTo>
                <a:cubicBezTo>
                  <a:pt x="41530" y="4217526"/>
                  <a:pt x="53227" y="4209759"/>
                  <a:pt x="50107" y="4193665"/>
                </a:cubicBezTo>
                <a:cubicBezTo>
                  <a:pt x="55406" y="4198550"/>
                  <a:pt x="50749" y="4175793"/>
                  <a:pt x="56192" y="4173105"/>
                </a:cubicBezTo>
                <a:cubicBezTo>
                  <a:pt x="60575" y="4171863"/>
                  <a:pt x="60184" y="4164671"/>
                  <a:pt x="61800" y="4159194"/>
                </a:cubicBezTo>
                <a:cubicBezTo>
                  <a:pt x="66276" y="4155290"/>
                  <a:pt x="70363" y="4127730"/>
                  <a:pt x="69720" y="4118135"/>
                </a:cubicBezTo>
                <a:cubicBezTo>
                  <a:pt x="65265" y="4091091"/>
                  <a:pt x="83289" y="4069336"/>
                  <a:pt x="80190" y="4047713"/>
                </a:cubicBezTo>
                <a:cubicBezTo>
                  <a:pt x="84682" y="4020435"/>
                  <a:pt x="92089" y="3998420"/>
                  <a:pt x="96666" y="3980780"/>
                </a:cubicBezTo>
                <a:cubicBezTo>
                  <a:pt x="98580" y="3977851"/>
                  <a:pt x="106155" y="3945259"/>
                  <a:pt x="107651" y="3941872"/>
                </a:cubicBezTo>
                <a:cubicBezTo>
                  <a:pt x="111761" y="3922504"/>
                  <a:pt x="112043" y="3930219"/>
                  <a:pt x="118444" y="3897465"/>
                </a:cubicBezTo>
                <a:cubicBezTo>
                  <a:pt x="124996" y="3869981"/>
                  <a:pt x="127657" y="3841768"/>
                  <a:pt x="134545" y="3811132"/>
                </a:cubicBezTo>
                <a:cubicBezTo>
                  <a:pt x="143817" y="3778601"/>
                  <a:pt x="141464" y="3759343"/>
                  <a:pt x="145381" y="3746540"/>
                </a:cubicBezTo>
                <a:cubicBezTo>
                  <a:pt x="156739" y="3719637"/>
                  <a:pt x="147664" y="3711291"/>
                  <a:pt x="146587" y="3670275"/>
                </a:cubicBezTo>
                <a:cubicBezTo>
                  <a:pt x="154134" y="3638754"/>
                  <a:pt x="151397" y="3605028"/>
                  <a:pt x="165690" y="3580981"/>
                </a:cubicBezTo>
                <a:cubicBezTo>
                  <a:pt x="164433" y="3577837"/>
                  <a:pt x="163639" y="3574469"/>
                  <a:pt x="163175" y="3570960"/>
                </a:cubicBezTo>
                <a:lnTo>
                  <a:pt x="162665" y="3560693"/>
                </a:lnTo>
                <a:lnTo>
                  <a:pt x="163299" y="3559743"/>
                </a:lnTo>
                <a:cubicBezTo>
                  <a:pt x="165039" y="3554949"/>
                  <a:pt x="165246" y="3551528"/>
                  <a:pt x="164777" y="3548721"/>
                </a:cubicBezTo>
                <a:lnTo>
                  <a:pt x="163708" y="3545693"/>
                </a:lnTo>
                <a:lnTo>
                  <a:pt x="164286" y="3537938"/>
                </a:lnTo>
                <a:cubicBezTo>
                  <a:pt x="164273" y="3532672"/>
                  <a:pt x="164261" y="3527407"/>
                  <a:pt x="164247" y="3522141"/>
                </a:cubicBezTo>
                <a:lnTo>
                  <a:pt x="165343" y="3519672"/>
                </a:lnTo>
                <a:lnTo>
                  <a:pt x="167001" y="3496604"/>
                </a:lnTo>
                <a:lnTo>
                  <a:pt x="167547" y="3496517"/>
                </a:lnTo>
                <a:cubicBezTo>
                  <a:pt x="168811" y="3495796"/>
                  <a:pt x="169814" y="3494272"/>
                  <a:pt x="170301" y="3491023"/>
                </a:cubicBezTo>
                <a:cubicBezTo>
                  <a:pt x="177219" y="3499391"/>
                  <a:pt x="173541" y="3490314"/>
                  <a:pt x="174371" y="3479998"/>
                </a:cubicBezTo>
                <a:cubicBezTo>
                  <a:pt x="185299" y="3490692"/>
                  <a:pt x="183023" y="3459350"/>
                  <a:pt x="190228" y="3457434"/>
                </a:cubicBezTo>
                <a:cubicBezTo>
                  <a:pt x="190591" y="3449617"/>
                  <a:pt x="191174" y="3441542"/>
                  <a:pt x="192016" y="3433411"/>
                </a:cubicBezTo>
                <a:lnTo>
                  <a:pt x="192663" y="3428691"/>
                </a:lnTo>
                <a:cubicBezTo>
                  <a:pt x="192706" y="3428676"/>
                  <a:pt x="192750" y="3428659"/>
                  <a:pt x="192793" y="3428643"/>
                </a:cubicBezTo>
                <a:cubicBezTo>
                  <a:pt x="193186" y="3427720"/>
                  <a:pt x="193494" y="3426206"/>
                  <a:pt x="193710" y="3423760"/>
                </a:cubicBezTo>
                <a:cubicBezTo>
                  <a:pt x="193753" y="3422535"/>
                  <a:pt x="193797" y="3421310"/>
                  <a:pt x="193839" y="3420085"/>
                </a:cubicBezTo>
                <a:lnTo>
                  <a:pt x="195094" y="3410930"/>
                </a:lnTo>
                <a:lnTo>
                  <a:pt x="196311" y="3408092"/>
                </a:lnTo>
                <a:lnTo>
                  <a:pt x="197928" y="3407419"/>
                </a:lnTo>
                <a:cubicBezTo>
                  <a:pt x="197912" y="3407119"/>
                  <a:pt x="197897" y="3406820"/>
                  <a:pt x="197881" y="3406520"/>
                </a:cubicBezTo>
                <a:cubicBezTo>
                  <a:pt x="196231" y="3399306"/>
                  <a:pt x="192821" y="3396220"/>
                  <a:pt x="204222" y="3391015"/>
                </a:cubicBezTo>
                <a:cubicBezTo>
                  <a:pt x="202162" y="3374996"/>
                  <a:pt x="208811" y="3373934"/>
                  <a:pt x="213950" y="3354361"/>
                </a:cubicBezTo>
                <a:cubicBezTo>
                  <a:pt x="211218" y="3344737"/>
                  <a:pt x="213619" y="3338360"/>
                  <a:pt x="217699" y="3332639"/>
                </a:cubicBezTo>
                <a:cubicBezTo>
                  <a:pt x="218717" y="3312409"/>
                  <a:pt x="225688" y="3295747"/>
                  <a:pt x="229963" y="3273935"/>
                </a:cubicBezTo>
                <a:cubicBezTo>
                  <a:pt x="228293" y="3248488"/>
                  <a:pt x="239257" y="3238943"/>
                  <a:pt x="243785" y="3215621"/>
                </a:cubicBezTo>
                <a:cubicBezTo>
                  <a:pt x="237893" y="3192522"/>
                  <a:pt x="253940" y="3201000"/>
                  <a:pt x="259175" y="3189909"/>
                </a:cubicBezTo>
                <a:lnTo>
                  <a:pt x="259988" y="3186579"/>
                </a:lnTo>
                <a:lnTo>
                  <a:pt x="259980" y="3177264"/>
                </a:lnTo>
                <a:lnTo>
                  <a:pt x="259609" y="3173723"/>
                </a:lnTo>
                <a:cubicBezTo>
                  <a:pt x="259490" y="3171299"/>
                  <a:pt x="259588" y="3169704"/>
                  <a:pt x="259848" y="3168622"/>
                </a:cubicBezTo>
                <a:lnTo>
                  <a:pt x="259971" y="3168508"/>
                </a:lnTo>
                <a:cubicBezTo>
                  <a:pt x="259969" y="3166907"/>
                  <a:pt x="259968" y="3165307"/>
                  <a:pt x="259966" y="3163706"/>
                </a:cubicBezTo>
                <a:cubicBezTo>
                  <a:pt x="259691" y="3155577"/>
                  <a:pt x="259171" y="3147642"/>
                  <a:pt x="258467" y="3140064"/>
                </a:cubicBezTo>
                <a:cubicBezTo>
                  <a:pt x="265286" y="3134408"/>
                  <a:pt x="258805" y="3106027"/>
                  <a:pt x="270990" y="3110288"/>
                </a:cubicBezTo>
                <a:cubicBezTo>
                  <a:pt x="270407" y="3100106"/>
                  <a:pt x="265565" y="3093497"/>
                  <a:pt x="273494" y="3097704"/>
                </a:cubicBezTo>
                <a:cubicBezTo>
                  <a:pt x="273534" y="3094376"/>
                  <a:pt x="274313" y="3092401"/>
                  <a:pt x="275456" y="3091047"/>
                </a:cubicBezTo>
                <a:lnTo>
                  <a:pt x="275980" y="3090672"/>
                </a:lnTo>
                <a:lnTo>
                  <a:pt x="274486" y="3068004"/>
                </a:lnTo>
                <a:lnTo>
                  <a:pt x="275226" y="3065087"/>
                </a:lnTo>
                <a:lnTo>
                  <a:pt x="273050" y="3050191"/>
                </a:lnTo>
                <a:cubicBezTo>
                  <a:pt x="272889" y="3047647"/>
                  <a:pt x="272728" y="3045103"/>
                  <a:pt x="272566" y="3042559"/>
                </a:cubicBezTo>
                <a:lnTo>
                  <a:pt x="271107" y="3040271"/>
                </a:lnTo>
                <a:cubicBezTo>
                  <a:pt x="270265" y="3037872"/>
                  <a:pt x="270006" y="3034528"/>
                  <a:pt x="271065" y="3029072"/>
                </a:cubicBezTo>
                <a:lnTo>
                  <a:pt x="271558" y="3027835"/>
                </a:lnTo>
                <a:cubicBezTo>
                  <a:pt x="270688" y="3024705"/>
                  <a:pt x="268559" y="2982922"/>
                  <a:pt x="268717" y="2964245"/>
                </a:cubicBezTo>
                <a:cubicBezTo>
                  <a:pt x="279502" y="2933904"/>
                  <a:pt x="269365" y="2949568"/>
                  <a:pt x="272511" y="2915772"/>
                </a:cubicBezTo>
                <a:cubicBezTo>
                  <a:pt x="272017" y="2877552"/>
                  <a:pt x="270125" y="2850992"/>
                  <a:pt x="270356" y="2825842"/>
                </a:cubicBezTo>
                <a:cubicBezTo>
                  <a:pt x="269433" y="2814032"/>
                  <a:pt x="268938" y="2727859"/>
                  <a:pt x="273897" y="2734957"/>
                </a:cubicBezTo>
                <a:cubicBezTo>
                  <a:pt x="264242" y="2698391"/>
                  <a:pt x="277769" y="2677127"/>
                  <a:pt x="274458" y="2636572"/>
                </a:cubicBezTo>
                <a:cubicBezTo>
                  <a:pt x="287792" y="2615986"/>
                  <a:pt x="275829" y="2626668"/>
                  <a:pt x="279157" y="2604260"/>
                </a:cubicBezTo>
                <a:cubicBezTo>
                  <a:pt x="279270" y="2587221"/>
                  <a:pt x="288019" y="2599786"/>
                  <a:pt x="288131" y="2582747"/>
                </a:cubicBezTo>
                <a:cubicBezTo>
                  <a:pt x="260352" y="2545890"/>
                  <a:pt x="290145" y="2525479"/>
                  <a:pt x="282516" y="2478755"/>
                </a:cubicBezTo>
                <a:lnTo>
                  <a:pt x="287359" y="2451804"/>
                </a:lnTo>
                <a:cubicBezTo>
                  <a:pt x="285426" y="2443087"/>
                  <a:pt x="285710" y="2414879"/>
                  <a:pt x="289577" y="2408801"/>
                </a:cubicBezTo>
                <a:cubicBezTo>
                  <a:pt x="290424" y="2402768"/>
                  <a:pt x="289064" y="2396183"/>
                  <a:pt x="293203" y="2392670"/>
                </a:cubicBezTo>
                <a:cubicBezTo>
                  <a:pt x="295637" y="2379564"/>
                  <a:pt x="301233" y="2349549"/>
                  <a:pt x="304183" y="2330165"/>
                </a:cubicBezTo>
                <a:cubicBezTo>
                  <a:pt x="298973" y="2319718"/>
                  <a:pt x="309550" y="2303314"/>
                  <a:pt x="310900" y="2276363"/>
                </a:cubicBezTo>
                <a:cubicBezTo>
                  <a:pt x="304874" y="2264930"/>
                  <a:pt x="311891" y="2258198"/>
                  <a:pt x="303909" y="2236310"/>
                </a:cubicBezTo>
                <a:cubicBezTo>
                  <a:pt x="304734" y="2235412"/>
                  <a:pt x="305502" y="2234293"/>
                  <a:pt x="306187" y="2232984"/>
                </a:cubicBezTo>
                <a:cubicBezTo>
                  <a:pt x="310170" y="2225381"/>
                  <a:pt x="310605" y="2213194"/>
                  <a:pt x="307158" y="2205763"/>
                </a:cubicBezTo>
                <a:cubicBezTo>
                  <a:pt x="296601" y="2170883"/>
                  <a:pt x="306474" y="2175442"/>
                  <a:pt x="304860" y="2145703"/>
                </a:cubicBezTo>
                <a:cubicBezTo>
                  <a:pt x="304314" y="2112090"/>
                  <a:pt x="314083" y="2134724"/>
                  <a:pt x="304273" y="2092533"/>
                </a:cubicBezTo>
                <a:cubicBezTo>
                  <a:pt x="308983" y="2088154"/>
                  <a:pt x="303590" y="2066396"/>
                  <a:pt x="301642" y="2057359"/>
                </a:cubicBezTo>
                <a:cubicBezTo>
                  <a:pt x="301720" y="2041038"/>
                  <a:pt x="313213" y="2032807"/>
                  <a:pt x="306736" y="2016105"/>
                </a:cubicBezTo>
                <a:cubicBezTo>
                  <a:pt x="312847" y="2019262"/>
                  <a:pt x="310007" y="1975377"/>
                  <a:pt x="316234" y="1983129"/>
                </a:cubicBezTo>
                <a:cubicBezTo>
                  <a:pt x="322177" y="1972692"/>
                  <a:pt x="313034" y="1967129"/>
                  <a:pt x="318238" y="1956745"/>
                </a:cubicBezTo>
                <a:cubicBezTo>
                  <a:pt x="319718" y="1944884"/>
                  <a:pt x="311423" y="1963350"/>
                  <a:pt x="311341" y="1950160"/>
                </a:cubicBezTo>
                <a:lnTo>
                  <a:pt x="323556" y="1879546"/>
                </a:lnTo>
                <a:cubicBezTo>
                  <a:pt x="320263" y="1869846"/>
                  <a:pt x="322312" y="1862247"/>
                  <a:pt x="326085" y="1854893"/>
                </a:cubicBezTo>
                <a:cubicBezTo>
                  <a:pt x="325955" y="1832625"/>
                  <a:pt x="332007" y="1812578"/>
                  <a:pt x="335058" y="1787684"/>
                </a:cubicBezTo>
                <a:cubicBezTo>
                  <a:pt x="331933" y="1760490"/>
                  <a:pt x="342400" y="1747069"/>
                  <a:pt x="345620" y="1720464"/>
                </a:cubicBezTo>
                <a:cubicBezTo>
                  <a:pt x="337355" y="1693643"/>
                  <a:pt x="360215" y="1703686"/>
                  <a:pt x="360760" y="1681196"/>
                </a:cubicBezTo>
                <a:cubicBezTo>
                  <a:pt x="353923" y="1644243"/>
                  <a:pt x="368449" y="1682451"/>
                  <a:pt x="368483" y="1625881"/>
                </a:cubicBezTo>
                <a:cubicBezTo>
                  <a:pt x="367181" y="1622619"/>
                  <a:pt x="369088" y="1615868"/>
                  <a:pt x="371077" y="1616704"/>
                </a:cubicBezTo>
                <a:cubicBezTo>
                  <a:pt x="371005" y="1604306"/>
                  <a:pt x="384453" y="1569256"/>
                  <a:pt x="383008" y="1551493"/>
                </a:cubicBezTo>
                <a:cubicBezTo>
                  <a:pt x="390598" y="1517303"/>
                  <a:pt x="381821" y="1500132"/>
                  <a:pt x="384834" y="1475233"/>
                </a:cubicBezTo>
                <a:cubicBezTo>
                  <a:pt x="393221" y="1446677"/>
                  <a:pt x="400498" y="1430031"/>
                  <a:pt x="418371" y="1380155"/>
                </a:cubicBezTo>
                <a:lnTo>
                  <a:pt x="469641" y="1210871"/>
                </a:lnTo>
                <a:cubicBezTo>
                  <a:pt x="507460" y="1148093"/>
                  <a:pt x="486915" y="1066841"/>
                  <a:pt x="489701" y="1028427"/>
                </a:cubicBezTo>
                <a:cubicBezTo>
                  <a:pt x="478454" y="1012506"/>
                  <a:pt x="490925" y="999600"/>
                  <a:pt x="486354" y="980383"/>
                </a:cubicBezTo>
                <a:cubicBezTo>
                  <a:pt x="483880" y="937629"/>
                  <a:pt x="471099" y="895192"/>
                  <a:pt x="479762" y="839699"/>
                </a:cubicBezTo>
                <a:cubicBezTo>
                  <a:pt x="444550" y="814685"/>
                  <a:pt x="465776" y="749644"/>
                  <a:pt x="445664" y="696545"/>
                </a:cubicBezTo>
                <a:cubicBezTo>
                  <a:pt x="441558" y="665722"/>
                  <a:pt x="459046" y="617297"/>
                  <a:pt x="440047" y="606615"/>
                </a:cubicBezTo>
                <a:cubicBezTo>
                  <a:pt x="451675" y="592509"/>
                  <a:pt x="432892" y="579307"/>
                  <a:pt x="431225" y="563889"/>
                </a:cubicBezTo>
                <a:cubicBezTo>
                  <a:pt x="438618" y="551582"/>
                  <a:pt x="432225" y="545475"/>
                  <a:pt x="430803" y="534294"/>
                </a:cubicBezTo>
                <a:cubicBezTo>
                  <a:pt x="435364" y="529230"/>
                  <a:pt x="435126" y="519767"/>
                  <a:pt x="429777" y="516548"/>
                </a:cubicBezTo>
                <a:cubicBezTo>
                  <a:pt x="417444" y="521116"/>
                  <a:pt x="423596" y="488251"/>
                  <a:pt x="415090" y="485808"/>
                </a:cubicBezTo>
                <a:cubicBezTo>
                  <a:pt x="413316" y="466733"/>
                  <a:pt x="424116" y="383903"/>
                  <a:pt x="410499" y="369873"/>
                </a:cubicBezTo>
                <a:cubicBezTo>
                  <a:pt x="404034" y="331308"/>
                  <a:pt x="425696" y="275570"/>
                  <a:pt x="425314" y="259180"/>
                </a:cubicBezTo>
                <a:cubicBezTo>
                  <a:pt x="450188" y="242918"/>
                  <a:pt x="384634" y="163766"/>
                  <a:pt x="383240" y="94173"/>
                </a:cubicBezTo>
                <a:cubicBezTo>
                  <a:pt x="385641" y="84795"/>
                  <a:pt x="385609" y="79782"/>
                  <a:pt x="379938" y="77267"/>
                </a:cubicBezTo>
                <a:cubicBezTo>
                  <a:pt x="378301" y="68220"/>
                  <a:pt x="376144" y="54774"/>
                  <a:pt x="373430" y="3885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0416D-197B-BA2A-47DE-EF4B2596CA56}"/>
              </a:ext>
            </a:extLst>
          </p:cNvPr>
          <p:cNvSpPr txBox="1"/>
          <p:nvPr/>
        </p:nvSpPr>
        <p:spPr>
          <a:xfrm>
            <a:off x="5876731" y="609600"/>
            <a:ext cx="5310116" cy="132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cleaning</a:t>
            </a:r>
          </a:p>
        </p:txBody>
      </p:sp>
      <p:pic>
        <p:nvPicPr>
          <p:cNvPr id="5" name="Graphic 4" descr="Mop and bucket with solid fill">
            <a:extLst>
              <a:ext uri="{FF2B5EF4-FFF2-40B4-BE49-F238E27FC236}">
                <a16:creationId xmlns:a16="http://schemas.microsoft.com/office/drawing/2014/main" id="{A79B5425-53A5-6E65-3A58-E0E9EBC84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758" y="1573971"/>
            <a:ext cx="3720152" cy="3720152"/>
          </a:xfrm>
          <a:prstGeom prst="rect">
            <a:avLst/>
          </a:prstGeom>
        </p:spPr>
      </p:pic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478EE086-8188-D761-73B8-435D14F17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6731" y="2194102"/>
            <a:ext cx="5310116" cy="3908585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Removed duplicates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Ensured each appointment record is unique to prevent double-counting of patient visits.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Handled missing values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Checked for missing </a:t>
            </a:r>
            <a:r>
              <a:rPr lang="en-US" sz="1600" b="1" dirty="0"/>
              <a:t>patient demographics, clinic locations, or appointment outcomes</a:t>
            </a:r>
            <a:r>
              <a:rPr lang="en-US" sz="1600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Imputed or excluded records with missing critical fields to ensure statistical accuracy in influencer analysis.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Standardized formats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Converted </a:t>
            </a:r>
            <a:r>
              <a:rPr lang="en-US" sz="1600" b="1" dirty="0"/>
              <a:t>Scheduled Day and Appointment Day</a:t>
            </a:r>
            <a:r>
              <a:rPr lang="en-US" sz="1600" dirty="0"/>
              <a:t> into standardized date formats for time-series analysis.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Unified </a:t>
            </a:r>
            <a:r>
              <a:rPr lang="en-US" sz="1600" b="1" dirty="0"/>
              <a:t>SMS received and Status</a:t>
            </a:r>
            <a:r>
              <a:rPr lang="en-US" sz="1600" dirty="0"/>
              <a:t> (Show/No-Show) into consistent binary formats for metric calculation.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Calculated and categorized </a:t>
            </a:r>
            <a:r>
              <a:rPr lang="en-US" sz="1600" b="1" dirty="0"/>
              <a:t>Waiting Days</a:t>
            </a:r>
            <a:r>
              <a:rPr lang="en-US" sz="1600" dirty="0"/>
              <a:t> into logical groups (Same Day, Short, Medium, Long).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844420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4FF44-6186-336E-C3DF-34419BF91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48778F3-CE66-F07C-5CB4-7989A0374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1914071-D59C-969F-0740-5D35BE2DE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886" y="0"/>
            <a:ext cx="7538114" cy="6858000"/>
          </a:xfrm>
          <a:custGeom>
            <a:avLst/>
            <a:gdLst>
              <a:gd name="connsiteX0" fmla="*/ 366246 w 7538114"/>
              <a:gd name="connsiteY0" fmla="*/ 0 h 6858000"/>
              <a:gd name="connsiteX1" fmla="*/ 2830292 w 7538114"/>
              <a:gd name="connsiteY1" fmla="*/ 0 h 6858000"/>
              <a:gd name="connsiteX2" fmla="*/ 3903260 w 7538114"/>
              <a:gd name="connsiteY2" fmla="*/ 0 h 6858000"/>
              <a:gd name="connsiteX3" fmla="*/ 4597266 w 7538114"/>
              <a:gd name="connsiteY3" fmla="*/ 0 h 6858000"/>
              <a:gd name="connsiteX4" fmla="*/ 7192370 w 7538114"/>
              <a:gd name="connsiteY4" fmla="*/ 0 h 6858000"/>
              <a:gd name="connsiteX5" fmla="*/ 7538114 w 7538114"/>
              <a:gd name="connsiteY5" fmla="*/ 0 h 6858000"/>
              <a:gd name="connsiteX6" fmla="*/ 7538114 w 7538114"/>
              <a:gd name="connsiteY6" fmla="*/ 6858000 h 6858000"/>
              <a:gd name="connsiteX7" fmla="*/ 7192370 w 7538114"/>
              <a:gd name="connsiteY7" fmla="*/ 6858000 h 6858000"/>
              <a:gd name="connsiteX8" fmla="*/ 4597266 w 7538114"/>
              <a:gd name="connsiteY8" fmla="*/ 6858000 h 6858000"/>
              <a:gd name="connsiteX9" fmla="*/ 3903260 w 7538114"/>
              <a:gd name="connsiteY9" fmla="*/ 6858000 h 6858000"/>
              <a:gd name="connsiteX10" fmla="*/ 2830292 w 7538114"/>
              <a:gd name="connsiteY10" fmla="*/ 6858000 h 6858000"/>
              <a:gd name="connsiteX11" fmla="*/ 170314 w 7538114"/>
              <a:gd name="connsiteY11" fmla="*/ 6858000 h 6858000"/>
              <a:gd name="connsiteX12" fmla="*/ 170341 w 7538114"/>
              <a:gd name="connsiteY12" fmla="*/ 6857759 h 6858000"/>
              <a:gd name="connsiteX13" fmla="*/ 173485 w 7538114"/>
              <a:gd name="connsiteY13" fmla="*/ 6852129 h 6858000"/>
              <a:gd name="connsiteX14" fmla="*/ 167544 w 7538114"/>
              <a:gd name="connsiteY14" fmla="*/ 6830335 h 6858000"/>
              <a:gd name="connsiteX15" fmla="*/ 163472 w 7538114"/>
              <a:gd name="connsiteY15" fmla="*/ 6796707 h 6858000"/>
              <a:gd name="connsiteX16" fmla="*/ 160535 w 7538114"/>
              <a:gd name="connsiteY16" fmla="*/ 6780725 h 6858000"/>
              <a:gd name="connsiteX17" fmla="*/ 162318 w 7538114"/>
              <a:gd name="connsiteY17" fmla="*/ 6767829 h 6858000"/>
              <a:gd name="connsiteX18" fmla="*/ 162771 w 7538114"/>
              <a:gd name="connsiteY18" fmla="*/ 6694444 h 6858000"/>
              <a:gd name="connsiteX19" fmla="*/ 165604 w 7538114"/>
              <a:gd name="connsiteY19" fmla="*/ 6677569 h 6858000"/>
              <a:gd name="connsiteX20" fmla="*/ 171255 w 7538114"/>
              <a:gd name="connsiteY20" fmla="*/ 6669571 h 6858000"/>
              <a:gd name="connsiteX21" fmla="*/ 169240 w 7538114"/>
              <a:gd name="connsiteY21" fmla="*/ 6663304 h 6858000"/>
              <a:gd name="connsiteX22" fmla="*/ 169039 w 7538114"/>
              <a:gd name="connsiteY22" fmla="*/ 6618916 h 6858000"/>
              <a:gd name="connsiteX23" fmla="*/ 168392 w 7538114"/>
              <a:gd name="connsiteY23" fmla="*/ 6589960 h 6858000"/>
              <a:gd name="connsiteX24" fmla="*/ 160636 w 7538114"/>
              <a:gd name="connsiteY24" fmla="*/ 6588200 h 6858000"/>
              <a:gd name="connsiteX25" fmla="*/ 157872 w 7538114"/>
              <a:gd name="connsiteY25" fmla="*/ 6562416 h 6858000"/>
              <a:gd name="connsiteX26" fmla="*/ 162851 w 7538114"/>
              <a:gd name="connsiteY26" fmla="*/ 6534939 h 6858000"/>
              <a:gd name="connsiteX27" fmla="*/ 162153 w 7538114"/>
              <a:gd name="connsiteY27" fmla="*/ 6502552 h 6858000"/>
              <a:gd name="connsiteX28" fmla="*/ 161821 w 7538114"/>
              <a:gd name="connsiteY28" fmla="*/ 6483172 h 6858000"/>
              <a:gd name="connsiteX29" fmla="*/ 154586 w 7538114"/>
              <a:gd name="connsiteY29" fmla="*/ 6432309 h 6858000"/>
              <a:gd name="connsiteX30" fmla="*/ 127078 w 7538114"/>
              <a:gd name="connsiteY30" fmla="*/ 6349783 h 6858000"/>
              <a:gd name="connsiteX31" fmla="*/ 123181 w 7538114"/>
              <a:gd name="connsiteY31" fmla="*/ 6323872 h 6858000"/>
              <a:gd name="connsiteX32" fmla="*/ 124767 w 7538114"/>
              <a:gd name="connsiteY32" fmla="*/ 6319343 h 6858000"/>
              <a:gd name="connsiteX33" fmla="*/ 108246 w 7538114"/>
              <a:gd name="connsiteY33" fmla="*/ 6190348 h 6858000"/>
              <a:gd name="connsiteX34" fmla="*/ 107279 w 7538114"/>
              <a:gd name="connsiteY34" fmla="*/ 6167269 h 6858000"/>
              <a:gd name="connsiteX35" fmla="*/ 107883 w 7538114"/>
              <a:gd name="connsiteY35" fmla="*/ 6149986 h 6858000"/>
              <a:gd name="connsiteX36" fmla="*/ 102380 w 7538114"/>
              <a:gd name="connsiteY36" fmla="*/ 6108622 h 6858000"/>
              <a:gd name="connsiteX37" fmla="*/ 90314 w 7538114"/>
              <a:gd name="connsiteY37" fmla="*/ 6041155 h 6858000"/>
              <a:gd name="connsiteX38" fmla="*/ 88409 w 7538114"/>
              <a:gd name="connsiteY38" fmla="*/ 6026587 h 6858000"/>
              <a:gd name="connsiteX39" fmla="*/ 89403 w 7538114"/>
              <a:gd name="connsiteY39" fmla="*/ 6013265 h 6858000"/>
              <a:gd name="connsiteX40" fmla="*/ 91927 w 7538114"/>
              <a:gd name="connsiteY40" fmla="*/ 6009478 h 6858000"/>
              <a:gd name="connsiteX41" fmla="*/ 91302 w 7538114"/>
              <a:gd name="connsiteY41" fmla="*/ 6001336 h 6858000"/>
              <a:gd name="connsiteX42" fmla="*/ 91687 w 7538114"/>
              <a:gd name="connsiteY42" fmla="*/ 5999003 h 6858000"/>
              <a:gd name="connsiteX43" fmla="*/ 93336 w 7538114"/>
              <a:gd name="connsiteY43" fmla="*/ 5985795 h 6858000"/>
              <a:gd name="connsiteX44" fmla="*/ 83190 w 7538114"/>
              <a:gd name="connsiteY44" fmla="*/ 5961758 h 6858000"/>
              <a:gd name="connsiteX45" fmla="*/ 81952 w 7538114"/>
              <a:gd name="connsiteY45" fmla="*/ 5928761 h 6858000"/>
              <a:gd name="connsiteX46" fmla="*/ 67420 w 7538114"/>
              <a:gd name="connsiteY46" fmla="*/ 5787247 h 6858000"/>
              <a:gd name="connsiteX47" fmla="*/ 50760 w 7538114"/>
              <a:gd name="connsiteY47" fmla="*/ 5710700 h 6858000"/>
              <a:gd name="connsiteX48" fmla="*/ 42956 w 7538114"/>
              <a:gd name="connsiteY48" fmla="*/ 5641754 h 6858000"/>
              <a:gd name="connsiteX49" fmla="*/ 29695 w 7538114"/>
              <a:gd name="connsiteY49" fmla="*/ 5602326 h 6858000"/>
              <a:gd name="connsiteX50" fmla="*/ 18841 w 7538114"/>
              <a:gd name="connsiteY50" fmla="*/ 5570885 h 6858000"/>
              <a:gd name="connsiteX51" fmla="*/ 9977 w 7538114"/>
              <a:gd name="connsiteY51" fmla="*/ 5543492 h 6858000"/>
              <a:gd name="connsiteX52" fmla="*/ 5255 w 7538114"/>
              <a:gd name="connsiteY52" fmla="*/ 5531024 h 6858000"/>
              <a:gd name="connsiteX53" fmla="*/ 5447 w 7538114"/>
              <a:gd name="connsiteY53" fmla="*/ 5527845 h 6858000"/>
              <a:gd name="connsiteX54" fmla="*/ 0 w 7538114"/>
              <a:gd name="connsiteY54" fmla="*/ 5507724 h 6858000"/>
              <a:gd name="connsiteX55" fmla="*/ 435 w 7538114"/>
              <a:gd name="connsiteY55" fmla="*/ 5507045 h 6858000"/>
              <a:gd name="connsiteX56" fmla="*/ 1128 w 7538114"/>
              <a:gd name="connsiteY56" fmla="*/ 5499619 h 6858000"/>
              <a:gd name="connsiteX57" fmla="*/ 1291 w 7538114"/>
              <a:gd name="connsiteY57" fmla="*/ 5486342 h 6858000"/>
              <a:gd name="connsiteX58" fmla="*/ 7976 w 7538114"/>
              <a:gd name="connsiteY58" fmla="*/ 5450755 h 6858000"/>
              <a:gd name="connsiteX59" fmla="*/ 2355 w 7538114"/>
              <a:gd name="connsiteY59" fmla="*/ 5429732 h 6858000"/>
              <a:gd name="connsiteX60" fmla="*/ 1499 w 7538114"/>
              <a:gd name="connsiteY60" fmla="*/ 5370432 h 6858000"/>
              <a:gd name="connsiteX61" fmla="*/ 11483 w 7538114"/>
              <a:gd name="connsiteY61" fmla="*/ 5308330 h 6858000"/>
              <a:gd name="connsiteX62" fmla="*/ 12793 w 7538114"/>
              <a:gd name="connsiteY62" fmla="*/ 5246026 h 6858000"/>
              <a:gd name="connsiteX63" fmla="*/ 12525 w 7538114"/>
              <a:gd name="connsiteY63" fmla="*/ 5223468 h 6858000"/>
              <a:gd name="connsiteX64" fmla="*/ 15322 w 7538114"/>
              <a:gd name="connsiteY64" fmla="*/ 5183258 h 6858000"/>
              <a:gd name="connsiteX65" fmla="*/ 18633 w 7538114"/>
              <a:gd name="connsiteY65" fmla="*/ 5164842 h 6858000"/>
              <a:gd name="connsiteX66" fmla="*/ 18428 w 7538114"/>
              <a:gd name="connsiteY66" fmla="*/ 5164034 h 6858000"/>
              <a:gd name="connsiteX67" fmla="*/ 19854 w 7538114"/>
              <a:gd name="connsiteY67" fmla="*/ 5162388 h 6858000"/>
              <a:gd name="connsiteX68" fmla="*/ 20514 w 7538114"/>
              <a:gd name="connsiteY68" fmla="*/ 5158981 h 6858000"/>
              <a:gd name="connsiteX69" fmla="*/ 20089 w 7538114"/>
              <a:gd name="connsiteY69" fmla="*/ 5149681 h 6858000"/>
              <a:gd name="connsiteX70" fmla="*/ 19561 w 7538114"/>
              <a:gd name="connsiteY70" fmla="*/ 5146183 h 6858000"/>
              <a:gd name="connsiteX71" fmla="*/ 19571 w 7538114"/>
              <a:gd name="connsiteY71" fmla="*/ 5141065 h 6858000"/>
              <a:gd name="connsiteX72" fmla="*/ 19690 w 7538114"/>
              <a:gd name="connsiteY72" fmla="*/ 5140937 h 6858000"/>
              <a:gd name="connsiteX73" fmla="*/ 19471 w 7538114"/>
              <a:gd name="connsiteY73" fmla="*/ 5136144 h 6858000"/>
              <a:gd name="connsiteX74" fmla="*/ 16918 w 7538114"/>
              <a:gd name="connsiteY74" fmla="*/ 5112689 h 6858000"/>
              <a:gd name="connsiteX75" fmla="*/ 28071 w 7538114"/>
              <a:gd name="connsiteY75" fmla="*/ 5081696 h 6858000"/>
              <a:gd name="connsiteX76" fmla="*/ 30005 w 7538114"/>
              <a:gd name="connsiteY76" fmla="*/ 5068879 h 6858000"/>
              <a:gd name="connsiteX77" fmla="*/ 31661 w 7538114"/>
              <a:gd name="connsiteY77" fmla="*/ 5062033 h 6858000"/>
              <a:gd name="connsiteX78" fmla="*/ 32169 w 7538114"/>
              <a:gd name="connsiteY78" fmla="*/ 5061608 h 6858000"/>
              <a:gd name="connsiteX79" fmla="*/ 27436 w 7538114"/>
              <a:gd name="connsiteY79" fmla="*/ 5021480 h 6858000"/>
              <a:gd name="connsiteX80" fmla="*/ 26614 w 7538114"/>
              <a:gd name="connsiteY80" fmla="*/ 5013906 h 6858000"/>
              <a:gd name="connsiteX81" fmla="*/ 25056 w 7538114"/>
              <a:gd name="connsiteY81" fmla="*/ 5011767 h 6858000"/>
              <a:gd name="connsiteX82" fmla="*/ 24513 w 7538114"/>
              <a:gd name="connsiteY82" fmla="*/ 5000592 h 6858000"/>
              <a:gd name="connsiteX83" fmla="*/ 24951 w 7538114"/>
              <a:gd name="connsiteY83" fmla="*/ 4999307 h 6858000"/>
              <a:gd name="connsiteX84" fmla="*/ 22644 w 7538114"/>
              <a:gd name="connsiteY84" fmla="*/ 4990090 h 6858000"/>
              <a:gd name="connsiteX85" fmla="*/ 18465 w 7538114"/>
              <a:gd name="connsiteY85" fmla="*/ 4982366 h 6858000"/>
              <a:gd name="connsiteX86" fmla="*/ 20888 w 7538114"/>
              <a:gd name="connsiteY86" fmla="*/ 4887310 h 6858000"/>
              <a:gd name="connsiteX87" fmla="*/ 15781 w 7538114"/>
              <a:gd name="connsiteY87" fmla="*/ 4807298 h 6858000"/>
              <a:gd name="connsiteX88" fmla="*/ 19649 w 7538114"/>
              <a:gd name="connsiteY88" fmla="*/ 4779990 h 6858000"/>
              <a:gd name="connsiteX89" fmla="*/ 21858 w 7538114"/>
              <a:gd name="connsiteY89" fmla="*/ 4664237 h 6858000"/>
              <a:gd name="connsiteX90" fmla="*/ 13583 w 7538114"/>
              <a:gd name="connsiteY90" fmla="*/ 4598607 h 6858000"/>
              <a:gd name="connsiteX91" fmla="*/ 7118 w 7538114"/>
              <a:gd name="connsiteY91" fmla="*/ 4546768 h 6858000"/>
              <a:gd name="connsiteX92" fmla="*/ 14555 w 7538114"/>
              <a:gd name="connsiteY92" fmla="*/ 4522182 h 6858000"/>
              <a:gd name="connsiteX93" fmla="*/ 17290 w 7538114"/>
              <a:gd name="connsiteY93" fmla="*/ 4509768 h 6858000"/>
              <a:gd name="connsiteX94" fmla="*/ 17421 w 7538114"/>
              <a:gd name="connsiteY94" fmla="*/ 4494586 h 6858000"/>
              <a:gd name="connsiteX95" fmla="*/ 18193 w 7538114"/>
              <a:gd name="connsiteY95" fmla="*/ 4440649 h 6858000"/>
              <a:gd name="connsiteX96" fmla="*/ 16616 w 7538114"/>
              <a:gd name="connsiteY96" fmla="*/ 4431853 h 6858000"/>
              <a:gd name="connsiteX97" fmla="*/ 19246 w 7538114"/>
              <a:gd name="connsiteY97" fmla="*/ 4403141 h 6858000"/>
              <a:gd name="connsiteX98" fmla="*/ 19623 w 7538114"/>
              <a:gd name="connsiteY98" fmla="*/ 4356631 h 6858000"/>
              <a:gd name="connsiteX99" fmla="*/ 20293 w 7538114"/>
              <a:gd name="connsiteY99" fmla="*/ 4339937 h 6858000"/>
              <a:gd name="connsiteX100" fmla="*/ 18752 w 7538114"/>
              <a:gd name="connsiteY100" fmla="*/ 4331435 h 6858000"/>
              <a:gd name="connsiteX101" fmla="*/ 24901 w 7538114"/>
              <a:gd name="connsiteY101" fmla="*/ 4320990 h 6858000"/>
              <a:gd name="connsiteX102" fmla="*/ 23734 w 7538114"/>
              <a:gd name="connsiteY102" fmla="*/ 4309111 h 6858000"/>
              <a:gd name="connsiteX103" fmla="*/ 29040 w 7538114"/>
              <a:gd name="connsiteY103" fmla="*/ 4263489 h 6858000"/>
              <a:gd name="connsiteX104" fmla="*/ 29429 w 7538114"/>
              <a:gd name="connsiteY104" fmla="*/ 4258775 h 6858000"/>
              <a:gd name="connsiteX105" fmla="*/ 33702 w 7538114"/>
              <a:gd name="connsiteY105" fmla="*/ 4248512 h 6858000"/>
              <a:gd name="connsiteX106" fmla="*/ 37356 w 7538114"/>
              <a:gd name="connsiteY106" fmla="*/ 4228644 h 6858000"/>
              <a:gd name="connsiteX107" fmla="*/ 50107 w 7538114"/>
              <a:gd name="connsiteY107" fmla="*/ 4193665 h 6858000"/>
              <a:gd name="connsiteX108" fmla="*/ 56192 w 7538114"/>
              <a:gd name="connsiteY108" fmla="*/ 4173105 h 6858000"/>
              <a:gd name="connsiteX109" fmla="*/ 61800 w 7538114"/>
              <a:gd name="connsiteY109" fmla="*/ 4159194 h 6858000"/>
              <a:gd name="connsiteX110" fmla="*/ 69720 w 7538114"/>
              <a:gd name="connsiteY110" fmla="*/ 4118135 h 6858000"/>
              <a:gd name="connsiteX111" fmla="*/ 80190 w 7538114"/>
              <a:gd name="connsiteY111" fmla="*/ 4047713 h 6858000"/>
              <a:gd name="connsiteX112" fmla="*/ 96666 w 7538114"/>
              <a:gd name="connsiteY112" fmla="*/ 3980780 h 6858000"/>
              <a:gd name="connsiteX113" fmla="*/ 107651 w 7538114"/>
              <a:gd name="connsiteY113" fmla="*/ 3941872 h 6858000"/>
              <a:gd name="connsiteX114" fmla="*/ 118444 w 7538114"/>
              <a:gd name="connsiteY114" fmla="*/ 3897465 h 6858000"/>
              <a:gd name="connsiteX115" fmla="*/ 134545 w 7538114"/>
              <a:gd name="connsiteY115" fmla="*/ 3811132 h 6858000"/>
              <a:gd name="connsiteX116" fmla="*/ 145381 w 7538114"/>
              <a:gd name="connsiteY116" fmla="*/ 3746540 h 6858000"/>
              <a:gd name="connsiteX117" fmla="*/ 146587 w 7538114"/>
              <a:gd name="connsiteY117" fmla="*/ 3670275 h 6858000"/>
              <a:gd name="connsiteX118" fmla="*/ 165690 w 7538114"/>
              <a:gd name="connsiteY118" fmla="*/ 3580981 h 6858000"/>
              <a:gd name="connsiteX119" fmla="*/ 163175 w 7538114"/>
              <a:gd name="connsiteY119" fmla="*/ 3570960 h 6858000"/>
              <a:gd name="connsiteX120" fmla="*/ 162665 w 7538114"/>
              <a:gd name="connsiteY120" fmla="*/ 3560693 h 6858000"/>
              <a:gd name="connsiteX121" fmla="*/ 163299 w 7538114"/>
              <a:gd name="connsiteY121" fmla="*/ 3559743 h 6858000"/>
              <a:gd name="connsiteX122" fmla="*/ 164777 w 7538114"/>
              <a:gd name="connsiteY122" fmla="*/ 3548721 h 6858000"/>
              <a:gd name="connsiteX123" fmla="*/ 163708 w 7538114"/>
              <a:gd name="connsiteY123" fmla="*/ 3545693 h 6858000"/>
              <a:gd name="connsiteX124" fmla="*/ 164286 w 7538114"/>
              <a:gd name="connsiteY124" fmla="*/ 3537938 h 6858000"/>
              <a:gd name="connsiteX125" fmla="*/ 164247 w 7538114"/>
              <a:gd name="connsiteY125" fmla="*/ 3522141 h 6858000"/>
              <a:gd name="connsiteX126" fmla="*/ 165343 w 7538114"/>
              <a:gd name="connsiteY126" fmla="*/ 3519672 h 6858000"/>
              <a:gd name="connsiteX127" fmla="*/ 167001 w 7538114"/>
              <a:gd name="connsiteY127" fmla="*/ 3496604 h 6858000"/>
              <a:gd name="connsiteX128" fmla="*/ 167547 w 7538114"/>
              <a:gd name="connsiteY128" fmla="*/ 3496517 h 6858000"/>
              <a:gd name="connsiteX129" fmla="*/ 170301 w 7538114"/>
              <a:gd name="connsiteY129" fmla="*/ 3491023 h 6858000"/>
              <a:gd name="connsiteX130" fmla="*/ 174371 w 7538114"/>
              <a:gd name="connsiteY130" fmla="*/ 3479998 h 6858000"/>
              <a:gd name="connsiteX131" fmla="*/ 190228 w 7538114"/>
              <a:gd name="connsiteY131" fmla="*/ 3457434 h 6858000"/>
              <a:gd name="connsiteX132" fmla="*/ 192016 w 7538114"/>
              <a:gd name="connsiteY132" fmla="*/ 3433411 h 6858000"/>
              <a:gd name="connsiteX133" fmla="*/ 192663 w 7538114"/>
              <a:gd name="connsiteY133" fmla="*/ 3428691 h 6858000"/>
              <a:gd name="connsiteX134" fmla="*/ 192793 w 7538114"/>
              <a:gd name="connsiteY134" fmla="*/ 3428643 h 6858000"/>
              <a:gd name="connsiteX135" fmla="*/ 193710 w 7538114"/>
              <a:gd name="connsiteY135" fmla="*/ 3423760 h 6858000"/>
              <a:gd name="connsiteX136" fmla="*/ 193839 w 7538114"/>
              <a:gd name="connsiteY136" fmla="*/ 3420085 h 6858000"/>
              <a:gd name="connsiteX137" fmla="*/ 195094 w 7538114"/>
              <a:gd name="connsiteY137" fmla="*/ 3410930 h 6858000"/>
              <a:gd name="connsiteX138" fmla="*/ 196311 w 7538114"/>
              <a:gd name="connsiteY138" fmla="*/ 3408092 h 6858000"/>
              <a:gd name="connsiteX139" fmla="*/ 197928 w 7538114"/>
              <a:gd name="connsiteY139" fmla="*/ 3407419 h 6858000"/>
              <a:gd name="connsiteX140" fmla="*/ 197881 w 7538114"/>
              <a:gd name="connsiteY140" fmla="*/ 3406520 h 6858000"/>
              <a:gd name="connsiteX141" fmla="*/ 204222 w 7538114"/>
              <a:gd name="connsiteY141" fmla="*/ 3391015 h 6858000"/>
              <a:gd name="connsiteX142" fmla="*/ 213950 w 7538114"/>
              <a:gd name="connsiteY142" fmla="*/ 3354361 h 6858000"/>
              <a:gd name="connsiteX143" fmla="*/ 217699 w 7538114"/>
              <a:gd name="connsiteY143" fmla="*/ 3332639 h 6858000"/>
              <a:gd name="connsiteX144" fmla="*/ 229963 w 7538114"/>
              <a:gd name="connsiteY144" fmla="*/ 3273935 h 6858000"/>
              <a:gd name="connsiteX145" fmla="*/ 243785 w 7538114"/>
              <a:gd name="connsiteY145" fmla="*/ 3215621 h 6858000"/>
              <a:gd name="connsiteX146" fmla="*/ 259175 w 7538114"/>
              <a:gd name="connsiteY146" fmla="*/ 3189909 h 6858000"/>
              <a:gd name="connsiteX147" fmla="*/ 259988 w 7538114"/>
              <a:gd name="connsiteY147" fmla="*/ 3186579 h 6858000"/>
              <a:gd name="connsiteX148" fmla="*/ 259980 w 7538114"/>
              <a:gd name="connsiteY148" fmla="*/ 3177264 h 6858000"/>
              <a:gd name="connsiteX149" fmla="*/ 259609 w 7538114"/>
              <a:gd name="connsiteY149" fmla="*/ 3173723 h 6858000"/>
              <a:gd name="connsiteX150" fmla="*/ 259848 w 7538114"/>
              <a:gd name="connsiteY150" fmla="*/ 3168622 h 6858000"/>
              <a:gd name="connsiteX151" fmla="*/ 259971 w 7538114"/>
              <a:gd name="connsiteY151" fmla="*/ 3168508 h 6858000"/>
              <a:gd name="connsiteX152" fmla="*/ 259966 w 7538114"/>
              <a:gd name="connsiteY152" fmla="*/ 3163706 h 6858000"/>
              <a:gd name="connsiteX153" fmla="*/ 258467 w 7538114"/>
              <a:gd name="connsiteY153" fmla="*/ 3140064 h 6858000"/>
              <a:gd name="connsiteX154" fmla="*/ 270990 w 7538114"/>
              <a:gd name="connsiteY154" fmla="*/ 3110288 h 6858000"/>
              <a:gd name="connsiteX155" fmla="*/ 273494 w 7538114"/>
              <a:gd name="connsiteY155" fmla="*/ 3097704 h 6858000"/>
              <a:gd name="connsiteX156" fmla="*/ 275456 w 7538114"/>
              <a:gd name="connsiteY156" fmla="*/ 3091047 h 6858000"/>
              <a:gd name="connsiteX157" fmla="*/ 275980 w 7538114"/>
              <a:gd name="connsiteY157" fmla="*/ 3090672 h 6858000"/>
              <a:gd name="connsiteX158" fmla="*/ 274486 w 7538114"/>
              <a:gd name="connsiteY158" fmla="*/ 3068004 h 6858000"/>
              <a:gd name="connsiteX159" fmla="*/ 275226 w 7538114"/>
              <a:gd name="connsiteY159" fmla="*/ 3065087 h 6858000"/>
              <a:gd name="connsiteX160" fmla="*/ 273050 w 7538114"/>
              <a:gd name="connsiteY160" fmla="*/ 3050191 h 6858000"/>
              <a:gd name="connsiteX161" fmla="*/ 272566 w 7538114"/>
              <a:gd name="connsiteY161" fmla="*/ 3042559 h 6858000"/>
              <a:gd name="connsiteX162" fmla="*/ 271107 w 7538114"/>
              <a:gd name="connsiteY162" fmla="*/ 3040271 h 6858000"/>
              <a:gd name="connsiteX163" fmla="*/ 271065 w 7538114"/>
              <a:gd name="connsiteY163" fmla="*/ 3029072 h 6858000"/>
              <a:gd name="connsiteX164" fmla="*/ 271558 w 7538114"/>
              <a:gd name="connsiteY164" fmla="*/ 3027835 h 6858000"/>
              <a:gd name="connsiteX165" fmla="*/ 268717 w 7538114"/>
              <a:gd name="connsiteY165" fmla="*/ 2964245 h 6858000"/>
              <a:gd name="connsiteX166" fmla="*/ 272511 w 7538114"/>
              <a:gd name="connsiteY166" fmla="*/ 2915772 h 6858000"/>
              <a:gd name="connsiteX167" fmla="*/ 270356 w 7538114"/>
              <a:gd name="connsiteY167" fmla="*/ 2825842 h 6858000"/>
              <a:gd name="connsiteX168" fmla="*/ 273897 w 7538114"/>
              <a:gd name="connsiteY168" fmla="*/ 2734957 h 6858000"/>
              <a:gd name="connsiteX169" fmla="*/ 274458 w 7538114"/>
              <a:gd name="connsiteY169" fmla="*/ 2636572 h 6858000"/>
              <a:gd name="connsiteX170" fmla="*/ 279157 w 7538114"/>
              <a:gd name="connsiteY170" fmla="*/ 2604260 h 6858000"/>
              <a:gd name="connsiteX171" fmla="*/ 288131 w 7538114"/>
              <a:gd name="connsiteY171" fmla="*/ 2582747 h 6858000"/>
              <a:gd name="connsiteX172" fmla="*/ 282516 w 7538114"/>
              <a:gd name="connsiteY172" fmla="*/ 2478755 h 6858000"/>
              <a:gd name="connsiteX173" fmla="*/ 287359 w 7538114"/>
              <a:gd name="connsiteY173" fmla="*/ 2451804 h 6858000"/>
              <a:gd name="connsiteX174" fmla="*/ 289577 w 7538114"/>
              <a:gd name="connsiteY174" fmla="*/ 2408801 h 6858000"/>
              <a:gd name="connsiteX175" fmla="*/ 293203 w 7538114"/>
              <a:gd name="connsiteY175" fmla="*/ 2392670 h 6858000"/>
              <a:gd name="connsiteX176" fmla="*/ 304183 w 7538114"/>
              <a:gd name="connsiteY176" fmla="*/ 2330165 h 6858000"/>
              <a:gd name="connsiteX177" fmla="*/ 310900 w 7538114"/>
              <a:gd name="connsiteY177" fmla="*/ 2276363 h 6858000"/>
              <a:gd name="connsiteX178" fmla="*/ 303909 w 7538114"/>
              <a:gd name="connsiteY178" fmla="*/ 2236310 h 6858000"/>
              <a:gd name="connsiteX179" fmla="*/ 306187 w 7538114"/>
              <a:gd name="connsiteY179" fmla="*/ 2232984 h 6858000"/>
              <a:gd name="connsiteX180" fmla="*/ 307158 w 7538114"/>
              <a:gd name="connsiteY180" fmla="*/ 2205763 h 6858000"/>
              <a:gd name="connsiteX181" fmla="*/ 304860 w 7538114"/>
              <a:gd name="connsiteY181" fmla="*/ 2145703 h 6858000"/>
              <a:gd name="connsiteX182" fmla="*/ 304273 w 7538114"/>
              <a:gd name="connsiteY182" fmla="*/ 2092533 h 6858000"/>
              <a:gd name="connsiteX183" fmla="*/ 301642 w 7538114"/>
              <a:gd name="connsiteY183" fmla="*/ 2057359 h 6858000"/>
              <a:gd name="connsiteX184" fmla="*/ 306736 w 7538114"/>
              <a:gd name="connsiteY184" fmla="*/ 2016105 h 6858000"/>
              <a:gd name="connsiteX185" fmla="*/ 316234 w 7538114"/>
              <a:gd name="connsiteY185" fmla="*/ 1983129 h 6858000"/>
              <a:gd name="connsiteX186" fmla="*/ 318238 w 7538114"/>
              <a:gd name="connsiteY186" fmla="*/ 1956745 h 6858000"/>
              <a:gd name="connsiteX187" fmla="*/ 311341 w 7538114"/>
              <a:gd name="connsiteY187" fmla="*/ 1950160 h 6858000"/>
              <a:gd name="connsiteX188" fmla="*/ 323556 w 7538114"/>
              <a:gd name="connsiteY188" fmla="*/ 1879546 h 6858000"/>
              <a:gd name="connsiteX189" fmla="*/ 326085 w 7538114"/>
              <a:gd name="connsiteY189" fmla="*/ 1854893 h 6858000"/>
              <a:gd name="connsiteX190" fmla="*/ 335058 w 7538114"/>
              <a:gd name="connsiteY190" fmla="*/ 1787684 h 6858000"/>
              <a:gd name="connsiteX191" fmla="*/ 345620 w 7538114"/>
              <a:gd name="connsiteY191" fmla="*/ 1720464 h 6858000"/>
              <a:gd name="connsiteX192" fmla="*/ 360760 w 7538114"/>
              <a:gd name="connsiteY192" fmla="*/ 1681196 h 6858000"/>
              <a:gd name="connsiteX193" fmla="*/ 368483 w 7538114"/>
              <a:gd name="connsiteY193" fmla="*/ 1625881 h 6858000"/>
              <a:gd name="connsiteX194" fmla="*/ 371077 w 7538114"/>
              <a:gd name="connsiteY194" fmla="*/ 1616704 h 6858000"/>
              <a:gd name="connsiteX195" fmla="*/ 383008 w 7538114"/>
              <a:gd name="connsiteY195" fmla="*/ 1551493 h 6858000"/>
              <a:gd name="connsiteX196" fmla="*/ 384834 w 7538114"/>
              <a:gd name="connsiteY196" fmla="*/ 1475233 h 6858000"/>
              <a:gd name="connsiteX197" fmla="*/ 418371 w 7538114"/>
              <a:gd name="connsiteY197" fmla="*/ 1380155 h 6858000"/>
              <a:gd name="connsiteX198" fmla="*/ 469641 w 7538114"/>
              <a:gd name="connsiteY198" fmla="*/ 1210871 h 6858000"/>
              <a:gd name="connsiteX199" fmla="*/ 489701 w 7538114"/>
              <a:gd name="connsiteY199" fmla="*/ 1028427 h 6858000"/>
              <a:gd name="connsiteX200" fmla="*/ 486354 w 7538114"/>
              <a:gd name="connsiteY200" fmla="*/ 980383 h 6858000"/>
              <a:gd name="connsiteX201" fmla="*/ 479762 w 7538114"/>
              <a:gd name="connsiteY201" fmla="*/ 839699 h 6858000"/>
              <a:gd name="connsiteX202" fmla="*/ 445664 w 7538114"/>
              <a:gd name="connsiteY202" fmla="*/ 696545 h 6858000"/>
              <a:gd name="connsiteX203" fmla="*/ 440047 w 7538114"/>
              <a:gd name="connsiteY203" fmla="*/ 606615 h 6858000"/>
              <a:gd name="connsiteX204" fmla="*/ 431225 w 7538114"/>
              <a:gd name="connsiteY204" fmla="*/ 563889 h 6858000"/>
              <a:gd name="connsiteX205" fmla="*/ 430803 w 7538114"/>
              <a:gd name="connsiteY205" fmla="*/ 534294 h 6858000"/>
              <a:gd name="connsiteX206" fmla="*/ 429777 w 7538114"/>
              <a:gd name="connsiteY206" fmla="*/ 516548 h 6858000"/>
              <a:gd name="connsiteX207" fmla="*/ 415090 w 7538114"/>
              <a:gd name="connsiteY207" fmla="*/ 485808 h 6858000"/>
              <a:gd name="connsiteX208" fmla="*/ 410499 w 7538114"/>
              <a:gd name="connsiteY208" fmla="*/ 369873 h 6858000"/>
              <a:gd name="connsiteX209" fmla="*/ 425314 w 7538114"/>
              <a:gd name="connsiteY209" fmla="*/ 259180 h 6858000"/>
              <a:gd name="connsiteX210" fmla="*/ 383240 w 7538114"/>
              <a:gd name="connsiteY210" fmla="*/ 94173 h 6858000"/>
              <a:gd name="connsiteX211" fmla="*/ 379938 w 7538114"/>
              <a:gd name="connsiteY211" fmla="*/ 77267 h 6858000"/>
              <a:gd name="connsiteX212" fmla="*/ 373430 w 7538114"/>
              <a:gd name="connsiteY212" fmla="*/ 388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538114" h="6858000">
                <a:moveTo>
                  <a:pt x="366246" y="0"/>
                </a:moveTo>
                <a:lnTo>
                  <a:pt x="2830292" y="0"/>
                </a:lnTo>
                <a:lnTo>
                  <a:pt x="3903260" y="0"/>
                </a:lnTo>
                <a:lnTo>
                  <a:pt x="4597266" y="0"/>
                </a:lnTo>
                <a:lnTo>
                  <a:pt x="7192370" y="0"/>
                </a:lnTo>
                <a:lnTo>
                  <a:pt x="7538114" y="0"/>
                </a:lnTo>
                <a:lnTo>
                  <a:pt x="7538114" y="6858000"/>
                </a:lnTo>
                <a:lnTo>
                  <a:pt x="7192370" y="6858000"/>
                </a:lnTo>
                <a:lnTo>
                  <a:pt x="4597266" y="6858000"/>
                </a:lnTo>
                <a:lnTo>
                  <a:pt x="3903260" y="6858000"/>
                </a:lnTo>
                <a:lnTo>
                  <a:pt x="2830292" y="6858000"/>
                </a:lnTo>
                <a:lnTo>
                  <a:pt x="170314" y="6858000"/>
                </a:lnTo>
                <a:cubicBezTo>
                  <a:pt x="170323" y="6857920"/>
                  <a:pt x="170332" y="6857839"/>
                  <a:pt x="170341" y="6857759"/>
                </a:cubicBezTo>
                <a:lnTo>
                  <a:pt x="173485" y="6852129"/>
                </a:lnTo>
                <a:lnTo>
                  <a:pt x="167544" y="6830335"/>
                </a:lnTo>
                <a:cubicBezTo>
                  <a:pt x="165474" y="6819600"/>
                  <a:pt x="164100" y="6808301"/>
                  <a:pt x="163472" y="6796707"/>
                </a:cubicBezTo>
                <a:cubicBezTo>
                  <a:pt x="167658" y="6794106"/>
                  <a:pt x="161711" y="6785006"/>
                  <a:pt x="160535" y="6780725"/>
                </a:cubicBezTo>
                <a:cubicBezTo>
                  <a:pt x="163268" y="6780680"/>
                  <a:pt x="164578" y="6771195"/>
                  <a:pt x="162318" y="6767829"/>
                </a:cubicBezTo>
                <a:cubicBezTo>
                  <a:pt x="152545" y="6697090"/>
                  <a:pt x="178083" y="6736894"/>
                  <a:pt x="162771" y="6694444"/>
                </a:cubicBezTo>
                <a:cubicBezTo>
                  <a:pt x="161971" y="6687342"/>
                  <a:pt x="163342" y="6682014"/>
                  <a:pt x="165604" y="6677569"/>
                </a:cubicBezTo>
                <a:lnTo>
                  <a:pt x="171255" y="6669571"/>
                </a:lnTo>
                <a:lnTo>
                  <a:pt x="169240" y="6663304"/>
                </a:lnTo>
                <a:cubicBezTo>
                  <a:pt x="169082" y="6639651"/>
                  <a:pt x="174873" y="6632678"/>
                  <a:pt x="169039" y="6618916"/>
                </a:cubicBezTo>
                <a:cubicBezTo>
                  <a:pt x="181164" y="6598580"/>
                  <a:pt x="170248" y="6605428"/>
                  <a:pt x="168392" y="6589960"/>
                </a:cubicBezTo>
                <a:cubicBezTo>
                  <a:pt x="165975" y="6577758"/>
                  <a:pt x="161323" y="6600160"/>
                  <a:pt x="160636" y="6588200"/>
                </a:cubicBezTo>
                <a:cubicBezTo>
                  <a:pt x="163766" y="6575263"/>
                  <a:pt x="154044" y="6575871"/>
                  <a:pt x="157872" y="6562416"/>
                </a:cubicBezTo>
                <a:cubicBezTo>
                  <a:pt x="165196" y="6565685"/>
                  <a:pt x="156453" y="6535866"/>
                  <a:pt x="162851" y="6534939"/>
                </a:cubicBezTo>
                <a:cubicBezTo>
                  <a:pt x="153702" y="6523511"/>
                  <a:pt x="164973" y="6517769"/>
                  <a:pt x="162153" y="6502552"/>
                </a:cubicBezTo>
                <a:cubicBezTo>
                  <a:pt x="158692" y="6495386"/>
                  <a:pt x="158098" y="6490216"/>
                  <a:pt x="161821" y="6483172"/>
                </a:cubicBezTo>
                <a:cubicBezTo>
                  <a:pt x="144969" y="6450162"/>
                  <a:pt x="161066" y="6463202"/>
                  <a:pt x="154586" y="6432309"/>
                </a:cubicBezTo>
                <a:cubicBezTo>
                  <a:pt x="147771" y="6405695"/>
                  <a:pt x="143349" y="6375524"/>
                  <a:pt x="127078" y="6349783"/>
                </a:cubicBezTo>
                <a:cubicBezTo>
                  <a:pt x="122468" y="6345058"/>
                  <a:pt x="120723" y="6333456"/>
                  <a:pt x="123181" y="6323872"/>
                </a:cubicBezTo>
                <a:cubicBezTo>
                  <a:pt x="123604" y="6322225"/>
                  <a:pt x="124138" y="6320698"/>
                  <a:pt x="124767" y="6319343"/>
                </a:cubicBezTo>
                <a:cubicBezTo>
                  <a:pt x="122278" y="6297089"/>
                  <a:pt x="111161" y="6215694"/>
                  <a:pt x="108246" y="6190348"/>
                </a:cubicBezTo>
                <a:cubicBezTo>
                  <a:pt x="114169" y="6188296"/>
                  <a:pt x="103482" y="6175479"/>
                  <a:pt x="107279" y="6167269"/>
                </a:cubicBezTo>
                <a:cubicBezTo>
                  <a:pt x="110610" y="6161389"/>
                  <a:pt x="108145" y="6156128"/>
                  <a:pt x="107883" y="6149986"/>
                </a:cubicBezTo>
                <a:cubicBezTo>
                  <a:pt x="110502" y="6141894"/>
                  <a:pt x="105773" y="6115502"/>
                  <a:pt x="102380" y="6108622"/>
                </a:cubicBezTo>
                <a:cubicBezTo>
                  <a:pt x="90593" y="6092179"/>
                  <a:pt x="99346" y="6054816"/>
                  <a:pt x="90314" y="6041155"/>
                </a:cubicBezTo>
                <a:cubicBezTo>
                  <a:pt x="88990" y="6036198"/>
                  <a:pt x="88454" y="6031348"/>
                  <a:pt x="88409" y="6026587"/>
                </a:cubicBezTo>
                <a:lnTo>
                  <a:pt x="89403" y="6013265"/>
                </a:lnTo>
                <a:lnTo>
                  <a:pt x="91927" y="6009478"/>
                </a:lnTo>
                <a:lnTo>
                  <a:pt x="91302" y="6001336"/>
                </a:lnTo>
                <a:cubicBezTo>
                  <a:pt x="91431" y="6000558"/>
                  <a:pt x="91559" y="5999781"/>
                  <a:pt x="91687" y="5999003"/>
                </a:cubicBezTo>
                <a:cubicBezTo>
                  <a:pt x="92431" y="5994547"/>
                  <a:pt x="93080" y="5990148"/>
                  <a:pt x="93336" y="5985795"/>
                </a:cubicBezTo>
                <a:cubicBezTo>
                  <a:pt x="80676" y="5991520"/>
                  <a:pt x="93430" y="5949705"/>
                  <a:pt x="83190" y="5961758"/>
                </a:cubicBezTo>
                <a:cubicBezTo>
                  <a:pt x="82399" y="5938832"/>
                  <a:pt x="72862" y="5956319"/>
                  <a:pt x="81952" y="5928761"/>
                </a:cubicBezTo>
                <a:cubicBezTo>
                  <a:pt x="79324" y="5899676"/>
                  <a:pt x="72619" y="5823590"/>
                  <a:pt x="67420" y="5787247"/>
                </a:cubicBezTo>
                <a:cubicBezTo>
                  <a:pt x="53530" y="5750058"/>
                  <a:pt x="57730" y="5736292"/>
                  <a:pt x="50760" y="5710700"/>
                </a:cubicBezTo>
                <a:cubicBezTo>
                  <a:pt x="47368" y="5660911"/>
                  <a:pt x="30723" y="5663675"/>
                  <a:pt x="42956" y="5641754"/>
                </a:cubicBezTo>
                <a:cubicBezTo>
                  <a:pt x="39970" y="5608358"/>
                  <a:pt x="24769" y="5637338"/>
                  <a:pt x="29695" y="5602326"/>
                </a:cubicBezTo>
                <a:cubicBezTo>
                  <a:pt x="27700" y="5601239"/>
                  <a:pt x="20274" y="5573144"/>
                  <a:pt x="18841" y="5570885"/>
                </a:cubicBezTo>
                <a:lnTo>
                  <a:pt x="9977" y="5543492"/>
                </a:lnTo>
                <a:lnTo>
                  <a:pt x="5255" y="5531024"/>
                </a:lnTo>
                <a:lnTo>
                  <a:pt x="5447" y="5527845"/>
                </a:lnTo>
                <a:lnTo>
                  <a:pt x="0" y="5507724"/>
                </a:lnTo>
                <a:lnTo>
                  <a:pt x="435" y="5507045"/>
                </a:lnTo>
                <a:cubicBezTo>
                  <a:pt x="1286" y="5505065"/>
                  <a:pt x="1681" y="5502734"/>
                  <a:pt x="1128" y="5499619"/>
                </a:cubicBezTo>
                <a:cubicBezTo>
                  <a:pt x="9450" y="5498516"/>
                  <a:pt x="3652" y="5495435"/>
                  <a:pt x="1291" y="5486342"/>
                </a:cubicBezTo>
                <a:cubicBezTo>
                  <a:pt x="13688" y="5482600"/>
                  <a:pt x="2464" y="5460320"/>
                  <a:pt x="7976" y="5450755"/>
                </a:cubicBezTo>
                <a:cubicBezTo>
                  <a:pt x="5962" y="5444157"/>
                  <a:pt x="4058" y="5437113"/>
                  <a:pt x="2355" y="5429732"/>
                </a:cubicBezTo>
                <a:lnTo>
                  <a:pt x="1499" y="5370432"/>
                </a:lnTo>
                <a:lnTo>
                  <a:pt x="11483" y="5308330"/>
                </a:lnTo>
                <a:cubicBezTo>
                  <a:pt x="11701" y="5285359"/>
                  <a:pt x="15408" y="5265468"/>
                  <a:pt x="12793" y="5246026"/>
                </a:cubicBezTo>
                <a:cubicBezTo>
                  <a:pt x="15678" y="5238129"/>
                  <a:pt x="16842" y="5230685"/>
                  <a:pt x="12525" y="5223468"/>
                </a:cubicBezTo>
                <a:cubicBezTo>
                  <a:pt x="13966" y="5202031"/>
                  <a:pt x="20131" y="5196842"/>
                  <a:pt x="15322" y="5183258"/>
                </a:cubicBezTo>
                <a:cubicBezTo>
                  <a:pt x="25294" y="5171214"/>
                  <a:pt x="21488" y="5170502"/>
                  <a:pt x="18633" y="5164842"/>
                </a:cubicBezTo>
                <a:cubicBezTo>
                  <a:pt x="18565" y="5164573"/>
                  <a:pt x="18496" y="5164303"/>
                  <a:pt x="18428" y="5164034"/>
                </a:cubicBezTo>
                <a:lnTo>
                  <a:pt x="19854" y="5162388"/>
                </a:lnTo>
                <a:lnTo>
                  <a:pt x="20514" y="5158981"/>
                </a:lnTo>
                <a:lnTo>
                  <a:pt x="20089" y="5149681"/>
                </a:lnTo>
                <a:lnTo>
                  <a:pt x="19561" y="5146183"/>
                </a:lnTo>
                <a:cubicBezTo>
                  <a:pt x="19336" y="5143774"/>
                  <a:pt x="19361" y="5142173"/>
                  <a:pt x="19571" y="5141065"/>
                </a:cubicBezTo>
                <a:lnTo>
                  <a:pt x="19690" y="5140937"/>
                </a:lnTo>
                <a:cubicBezTo>
                  <a:pt x="19617" y="5139339"/>
                  <a:pt x="19544" y="5137742"/>
                  <a:pt x="19471" y="5136144"/>
                </a:cubicBezTo>
                <a:cubicBezTo>
                  <a:pt x="18832" y="5128055"/>
                  <a:pt x="17958" y="5120182"/>
                  <a:pt x="16918" y="5112689"/>
                </a:cubicBezTo>
                <a:cubicBezTo>
                  <a:pt x="23464" y="5106353"/>
                  <a:pt x="15733" y="5078666"/>
                  <a:pt x="28071" y="5081696"/>
                </a:cubicBezTo>
                <a:cubicBezTo>
                  <a:pt x="27036" y="5071588"/>
                  <a:pt x="21912" y="5065475"/>
                  <a:pt x="30005" y="5068879"/>
                </a:cubicBezTo>
                <a:cubicBezTo>
                  <a:pt x="29897" y="5065551"/>
                  <a:pt x="30585" y="5063501"/>
                  <a:pt x="31661" y="5062033"/>
                </a:cubicBezTo>
                <a:lnTo>
                  <a:pt x="32169" y="5061608"/>
                </a:lnTo>
                <a:lnTo>
                  <a:pt x="27436" y="5021480"/>
                </a:lnTo>
                <a:lnTo>
                  <a:pt x="26614" y="5013906"/>
                </a:lnTo>
                <a:lnTo>
                  <a:pt x="25056" y="5011767"/>
                </a:lnTo>
                <a:cubicBezTo>
                  <a:pt x="24110" y="5009457"/>
                  <a:pt x="23701" y="5006147"/>
                  <a:pt x="24513" y="5000592"/>
                </a:cubicBezTo>
                <a:lnTo>
                  <a:pt x="24951" y="4999307"/>
                </a:lnTo>
                <a:lnTo>
                  <a:pt x="22644" y="4990090"/>
                </a:lnTo>
                <a:cubicBezTo>
                  <a:pt x="21579" y="4987122"/>
                  <a:pt x="20222" y="4984494"/>
                  <a:pt x="18465" y="4982366"/>
                </a:cubicBezTo>
                <a:cubicBezTo>
                  <a:pt x="27858" y="4950984"/>
                  <a:pt x="19264" y="4921373"/>
                  <a:pt x="20888" y="4887310"/>
                </a:cubicBezTo>
                <a:cubicBezTo>
                  <a:pt x="17563" y="4848813"/>
                  <a:pt x="18386" y="4829570"/>
                  <a:pt x="15781" y="4807298"/>
                </a:cubicBezTo>
                <a:cubicBezTo>
                  <a:pt x="15634" y="4803627"/>
                  <a:pt x="14440" y="4773874"/>
                  <a:pt x="19649" y="4779990"/>
                </a:cubicBezTo>
                <a:cubicBezTo>
                  <a:pt x="18744" y="4746827"/>
                  <a:pt x="22869" y="4698305"/>
                  <a:pt x="21858" y="4664237"/>
                </a:cubicBezTo>
                <a:cubicBezTo>
                  <a:pt x="34232" y="4642340"/>
                  <a:pt x="11268" y="4621318"/>
                  <a:pt x="13583" y="4598607"/>
                </a:cubicBezTo>
                <a:cubicBezTo>
                  <a:pt x="2193" y="4604819"/>
                  <a:pt x="19974" y="4548010"/>
                  <a:pt x="7118" y="4546768"/>
                </a:cubicBezTo>
                <a:lnTo>
                  <a:pt x="14555" y="4522182"/>
                </a:lnTo>
                <a:lnTo>
                  <a:pt x="17290" y="4509768"/>
                </a:lnTo>
                <a:cubicBezTo>
                  <a:pt x="17884" y="4505118"/>
                  <a:pt x="18021" y="4500115"/>
                  <a:pt x="17421" y="4494586"/>
                </a:cubicBezTo>
                <a:cubicBezTo>
                  <a:pt x="12327" y="4480984"/>
                  <a:pt x="18571" y="4459805"/>
                  <a:pt x="18193" y="4440649"/>
                </a:cubicBezTo>
                <a:lnTo>
                  <a:pt x="16616" y="4431853"/>
                </a:lnTo>
                <a:lnTo>
                  <a:pt x="19246" y="4403141"/>
                </a:lnTo>
                <a:cubicBezTo>
                  <a:pt x="19372" y="4387638"/>
                  <a:pt x="19497" y="4372134"/>
                  <a:pt x="19623" y="4356631"/>
                </a:cubicBezTo>
                <a:cubicBezTo>
                  <a:pt x="19508" y="4349062"/>
                  <a:pt x="15847" y="4339045"/>
                  <a:pt x="20293" y="4339937"/>
                </a:cubicBezTo>
                <a:lnTo>
                  <a:pt x="18752" y="4331435"/>
                </a:lnTo>
                <a:cubicBezTo>
                  <a:pt x="19520" y="4328277"/>
                  <a:pt x="24070" y="4324711"/>
                  <a:pt x="24901" y="4320990"/>
                </a:cubicBezTo>
                <a:lnTo>
                  <a:pt x="23734" y="4309111"/>
                </a:lnTo>
                <a:cubicBezTo>
                  <a:pt x="24423" y="4299527"/>
                  <a:pt x="28090" y="4271878"/>
                  <a:pt x="29040" y="4263489"/>
                </a:cubicBezTo>
                <a:cubicBezTo>
                  <a:pt x="29169" y="4261918"/>
                  <a:pt x="29300" y="4260346"/>
                  <a:pt x="29429" y="4258775"/>
                </a:cubicBezTo>
                <a:lnTo>
                  <a:pt x="33702" y="4248512"/>
                </a:lnTo>
                <a:cubicBezTo>
                  <a:pt x="36933" y="4241044"/>
                  <a:pt x="39109" y="4235167"/>
                  <a:pt x="37356" y="4228644"/>
                </a:cubicBezTo>
                <a:cubicBezTo>
                  <a:pt x="41530" y="4217526"/>
                  <a:pt x="53227" y="4209759"/>
                  <a:pt x="50107" y="4193665"/>
                </a:cubicBezTo>
                <a:cubicBezTo>
                  <a:pt x="55406" y="4198550"/>
                  <a:pt x="50749" y="4175793"/>
                  <a:pt x="56192" y="4173105"/>
                </a:cubicBezTo>
                <a:cubicBezTo>
                  <a:pt x="60575" y="4171863"/>
                  <a:pt x="60184" y="4164671"/>
                  <a:pt x="61800" y="4159194"/>
                </a:cubicBezTo>
                <a:cubicBezTo>
                  <a:pt x="66276" y="4155290"/>
                  <a:pt x="70363" y="4127730"/>
                  <a:pt x="69720" y="4118135"/>
                </a:cubicBezTo>
                <a:cubicBezTo>
                  <a:pt x="65265" y="4091091"/>
                  <a:pt x="83289" y="4069336"/>
                  <a:pt x="80190" y="4047713"/>
                </a:cubicBezTo>
                <a:cubicBezTo>
                  <a:pt x="84682" y="4020435"/>
                  <a:pt x="92089" y="3998420"/>
                  <a:pt x="96666" y="3980780"/>
                </a:cubicBezTo>
                <a:cubicBezTo>
                  <a:pt x="98580" y="3977851"/>
                  <a:pt x="106155" y="3945259"/>
                  <a:pt x="107651" y="3941872"/>
                </a:cubicBezTo>
                <a:cubicBezTo>
                  <a:pt x="111761" y="3922504"/>
                  <a:pt x="112043" y="3930219"/>
                  <a:pt x="118444" y="3897465"/>
                </a:cubicBezTo>
                <a:cubicBezTo>
                  <a:pt x="124996" y="3869981"/>
                  <a:pt x="127657" y="3841768"/>
                  <a:pt x="134545" y="3811132"/>
                </a:cubicBezTo>
                <a:cubicBezTo>
                  <a:pt x="143817" y="3778601"/>
                  <a:pt x="141464" y="3759343"/>
                  <a:pt x="145381" y="3746540"/>
                </a:cubicBezTo>
                <a:cubicBezTo>
                  <a:pt x="156739" y="3719637"/>
                  <a:pt x="147664" y="3711291"/>
                  <a:pt x="146587" y="3670275"/>
                </a:cubicBezTo>
                <a:cubicBezTo>
                  <a:pt x="154134" y="3638754"/>
                  <a:pt x="151397" y="3605028"/>
                  <a:pt x="165690" y="3580981"/>
                </a:cubicBezTo>
                <a:cubicBezTo>
                  <a:pt x="164433" y="3577837"/>
                  <a:pt x="163639" y="3574469"/>
                  <a:pt x="163175" y="3570960"/>
                </a:cubicBezTo>
                <a:lnTo>
                  <a:pt x="162665" y="3560693"/>
                </a:lnTo>
                <a:lnTo>
                  <a:pt x="163299" y="3559743"/>
                </a:lnTo>
                <a:cubicBezTo>
                  <a:pt x="165039" y="3554949"/>
                  <a:pt x="165246" y="3551528"/>
                  <a:pt x="164777" y="3548721"/>
                </a:cubicBezTo>
                <a:lnTo>
                  <a:pt x="163708" y="3545693"/>
                </a:lnTo>
                <a:lnTo>
                  <a:pt x="164286" y="3537938"/>
                </a:lnTo>
                <a:cubicBezTo>
                  <a:pt x="164273" y="3532672"/>
                  <a:pt x="164261" y="3527407"/>
                  <a:pt x="164247" y="3522141"/>
                </a:cubicBezTo>
                <a:lnTo>
                  <a:pt x="165343" y="3519672"/>
                </a:lnTo>
                <a:lnTo>
                  <a:pt x="167001" y="3496604"/>
                </a:lnTo>
                <a:lnTo>
                  <a:pt x="167547" y="3496517"/>
                </a:lnTo>
                <a:cubicBezTo>
                  <a:pt x="168811" y="3495796"/>
                  <a:pt x="169814" y="3494272"/>
                  <a:pt x="170301" y="3491023"/>
                </a:cubicBezTo>
                <a:cubicBezTo>
                  <a:pt x="177219" y="3499391"/>
                  <a:pt x="173541" y="3490314"/>
                  <a:pt x="174371" y="3479998"/>
                </a:cubicBezTo>
                <a:cubicBezTo>
                  <a:pt x="185299" y="3490692"/>
                  <a:pt x="183023" y="3459350"/>
                  <a:pt x="190228" y="3457434"/>
                </a:cubicBezTo>
                <a:cubicBezTo>
                  <a:pt x="190591" y="3449617"/>
                  <a:pt x="191174" y="3441542"/>
                  <a:pt x="192016" y="3433411"/>
                </a:cubicBezTo>
                <a:lnTo>
                  <a:pt x="192663" y="3428691"/>
                </a:lnTo>
                <a:cubicBezTo>
                  <a:pt x="192706" y="3428676"/>
                  <a:pt x="192750" y="3428659"/>
                  <a:pt x="192793" y="3428643"/>
                </a:cubicBezTo>
                <a:cubicBezTo>
                  <a:pt x="193186" y="3427720"/>
                  <a:pt x="193494" y="3426206"/>
                  <a:pt x="193710" y="3423760"/>
                </a:cubicBezTo>
                <a:cubicBezTo>
                  <a:pt x="193753" y="3422535"/>
                  <a:pt x="193797" y="3421310"/>
                  <a:pt x="193839" y="3420085"/>
                </a:cubicBezTo>
                <a:lnTo>
                  <a:pt x="195094" y="3410930"/>
                </a:lnTo>
                <a:lnTo>
                  <a:pt x="196311" y="3408092"/>
                </a:lnTo>
                <a:lnTo>
                  <a:pt x="197928" y="3407419"/>
                </a:lnTo>
                <a:cubicBezTo>
                  <a:pt x="197912" y="3407119"/>
                  <a:pt x="197897" y="3406820"/>
                  <a:pt x="197881" y="3406520"/>
                </a:cubicBezTo>
                <a:cubicBezTo>
                  <a:pt x="196231" y="3399306"/>
                  <a:pt x="192821" y="3396220"/>
                  <a:pt x="204222" y="3391015"/>
                </a:cubicBezTo>
                <a:cubicBezTo>
                  <a:pt x="202162" y="3374996"/>
                  <a:pt x="208811" y="3373934"/>
                  <a:pt x="213950" y="3354361"/>
                </a:cubicBezTo>
                <a:cubicBezTo>
                  <a:pt x="211218" y="3344737"/>
                  <a:pt x="213619" y="3338360"/>
                  <a:pt x="217699" y="3332639"/>
                </a:cubicBezTo>
                <a:cubicBezTo>
                  <a:pt x="218717" y="3312409"/>
                  <a:pt x="225688" y="3295747"/>
                  <a:pt x="229963" y="3273935"/>
                </a:cubicBezTo>
                <a:cubicBezTo>
                  <a:pt x="228293" y="3248488"/>
                  <a:pt x="239257" y="3238943"/>
                  <a:pt x="243785" y="3215621"/>
                </a:cubicBezTo>
                <a:cubicBezTo>
                  <a:pt x="237893" y="3192522"/>
                  <a:pt x="253940" y="3201000"/>
                  <a:pt x="259175" y="3189909"/>
                </a:cubicBezTo>
                <a:lnTo>
                  <a:pt x="259988" y="3186579"/>
                </a:lnTo>
                <a:lnTo>
                  <a:pt x="259980" y="3177264"/>
                </a:lnTo>
                <a:lnTo>
                  <a:pt x="259609" y="3173723"/>
                </a:lnTo>
                <a:cubicBezTo>
                  <a:pt x="259490" y="3171299"/>
                  <a:pt x="259588" y="3169704"/>
                  <a:pt x="259848" y="3168622"/>
                </a:cubicBezTo>
                <a:lnTo>
                  <a:pt x="259971" y="3168508"/>
                </a:lnTo>
                <a:cubicBezTo>
                  <a:pt x="259969" y="3166907"/>
                  <a:pt x="259968" y="3165307"/>
                  <a:pt x="259966" y="3163706"/>
                </a:cubicBezTo>
                <a:cubicBezTo>
                  <a:pt x="259691" y="3155577"/>
                  <a:pt x="259171" y="3147642"/>
                  <a:pt x="258467" y="3140064"/>
                </a:cubicBezTo>
                <a:cubicBezTo>
                  <a:pt x="265286" y="3134408"/>
                  <a:pt x="258805" y="3106027"/>
                  <a:pt x="270990" y="3110288"/>
                </a:cubicBezTo>
                <a:cubicBezTo>
                  <a:pt x="270407" y="3100106"/>
                  <a:pt x="265565" y="3093497"/>
                  <a:pt x="273494" y="3097704"/>
                </a:cubicBezTo>
                <a:cubicBezTo>
                  <a:pt x="273534" y="3094376"/>
                  <a:pt x="274313" y="3092401"/>
                  <a:pt x="275456" y="3091047"/>
                </a:cubicBezTo>
                <a:lnTo>
                  <a:pt x="275980" y="3090672"/>
                </a:lnTo>
                <a:lnTo>
                  <a:pt x="274486" y="3068004"/>
                </a:lnTo>
                <a:lnTo>
                  <a:pt x="275226" y="3065087"/>
                </a:lnTo>
                <a:lnTo>
                  <a:pt x="273050" y="3050191"/>
                </a:lnTo>
                <a:cubicBezTo>
                  <a:pt x="272889" y="3047647"/>
                  <a:pt x="272728" y="3045103"/>
                  <a:pt x="272566" y="3042559"/>
                </a:cubicBezTo>
                <a:lnTo>
                  <a:pt x="271107" y="3040271"/>
                </a:lnTo>
                <a:cubicBezTo>
                  <a:pt x="270265" y="3037872"/>
                  <a:pt x="270006" y="3034528"/>
                  <a:pt x="271065" y="3029072"/>
                </a:cubicBezTo>
                <a:lnTo>
                  <a:pt x="271558" y="3027835"/>
                </a:lnTo>
                <a:cubicBezTo>
                  <a:pt x="270688" y="3024705"/>
                  <a:pt x="268559" y="2982922"/>
                  <a:pt x="268717" y="2964245"/>
                </a:cubicBezTo>
                <a:cubicBezTo>
                  <a:pt x="279502" y="2933904"/>
                  <a:pt x="269365" y="2949568"/>
                  <a:pt x="272511" y="2915772"/>
                </a:cubicBezTo>
                <a:cubicBezTo>
                  <a:pt x="272017" y="2877552"/>
                  <a:pt x="270125" y="2850992"/>
                  <a:pt x="270356" y="2825842"/>
                </a:cubicBezTo>
                <a:cubicBezTo>
                  <a:pt x="269433" y="2814032"/>
                  <a:pt x="268938" y="2727859"/>
                  <a:pt x="273897" y="2734957"/>
                </a:cubicBezTo>
                <a:cubicBezTo>
                  <a:pt x="264242" y="2698391"/>
                  <a:pt x="277769" y="2677127"/>
                  <a:pt x="274458" y="2636572"/>
                </a:cubicBezTo>
                <a:cubicBezTo>
                  <a:pt x="287792" y="2615986"/>
                  <a:pt x="275829" y="2626668"/>
                  <a:pt x="279157" y="2604260"/>
                </a:cubicBezTo>
                <a:cubicBezTo>
                  <a:pt x="279270" y="2587221"/>
                  <a:pt x="288019" y="2599786"/>
                  <a:pt x="288131" y="2582747"/>
                </a:cubicBezTo>
                <a:cubicBezTo>
                  <a:pt x="260352" y="2545890"/>
                  <a:pt x="290145" y="2525479"/>
                  <a:pt x="282516" y="2478755"/>
                </a:cubicBezTo>
                <a:lnTo>
                  <a:pt x="287359" y="2451804"/>
                </a:lnTo>
                <a:cubicBezTo>
                  <a:pt x="285426" y="2443087"/>
                  <a:pt x="285710" y="2414879"/>
                  <a:pt x="289577" y="2408801"/>
                </a:cubicBezTo>
                <a:cubicBezTo>
                  <a:pt x="290424" y="2402768"/>
                  <a:pt x="289064" y="2396183"/>
                  <a:pt x="293203" y="2392670"/>
                </a:cubicBezTo>
                <a:cubicBezTo>
                  <a:pt x="295637" y="2379564"/>
                  <a:pt x="301233" y="2349549"/>
                  <a:pt x="304183" y="2330165"/>
                </a:cubicBezTo>
                <a:cubicBezTo>
                  <a:pt x="298973" y="2319718"/>
                  <a:pt x="309550" y="2303314"/>
                  <a:pt x="310900" y="2276363"/>
                </a:cubicBezTo>
                <a:cubicBezTo>
                  <a:pt x="304874" y="2264930"/>
                  <a:pt x="311891" y="2258198"/>
                  <a:pt x="303909" y="2236310"/>
                </a:cubicBezTo>
                <a:cubicBezTo>
                  <a:pt x="304734" y="2235412"/>
                  <a:pt x="305502" y="2234293"/>
                  <a:pt x="306187" y="2232984"/>
                </a:cubicBezTo>
                <a:cubicBezTo>
                  <a:pt x="310170" y="2225381"/>
                  <a:pt x="310605" y="2213194"/>
                  <a:pt x="307158" y="2205763"/>
                </a:cubicBezTo>
                <a:cubicBezTo>
                  <a:pt x="296601" y="2170883"/>
                  <a:pt x="306474" y="2175442"/>
                  <a:pt x="304860" y="2145703"/>
                </a:cubicBezTo>
                <a:cubicBezTo>
                  <a:pt x="304314" y="2112090"/>
                  <a:pt x="314083" y="2134724"/>
                  <a:pt x="304273" y="2092533"/>
                </a:cubicBezTo>
                <a:cubicBezTo>
                  <a:pt x="308983" y="2088154"/>
                  <a:pt x="303590" y="2066396"/>
                  <a:pt x="301642" y="2057359"/>
                </a:cubicBezTo>
                <a:cubicBezTo>
                  <a:pt x="301720" y="2041038"/>
                  <a:pt x="313213" y="2032807"/>
                  <a:pt x="306736" y="2016105"/>
                </a:cubicBezTo>
                <a:cubicBezTo>
                  <a:pt x="312847" y="2019262"/>
                  <a:pt x="310007" y="1975377"/>
                  <a:pt x="316234" y="1983129"/>
                </a:cubicBezTo>
                <a:cubicBezTo>
                  <a:pt x="322177" y="1972692"/>
                  <a:pt x="313034" y="1967129"/>
                  <a:pt x="318238" y="1956745"/>
                </a:cubicBezTo>
                <a:cubicBezTo>
                  <a:pt x="319718" y="1944884"/>
                  <a:pt x="311423" y="1963350"/>
                  <a:pt x="311341" y="1950160"/>
                </a:cubicBezTo>
                <a:lnTo>
                  <a:pt x="323556" y="1879546"/>
                </a:lnTo>
                <a:cubicBezTo>
                  <a:pt x="320263" y="1869846"/>
                  <a:pt x="322312" y="1862247"/>
                  <a:pt x="326085" y="1854893"/>
                </a:cubicBezTo>
                <a:cubicBezTo>
                  <a:pt x="325955" y="1832625"/>
                  <a:pt x="332007" y="1812578"/>
                  <a:pt x="335058" y="1787684"/>
                </a:cubicBezTo>
                <a:cubicBezTo>
                  <a:pt x="331933" y="1760490"/>
                  <a:pt x="342400" y="1747069"/>
                  <a:pt x="345620" y="1720464"/>
                </a:cubicBezTo>
                <a:cubicBezTo>
                  <a:pt x="337355" y="1693643"/>
                  <a:pt x="360215" y="1703686"/>
                  <a:pt x="360760" y="1681196"/>
                </a:cubicBezTo>
                <a:cubicBezTo>
                  <a:pt x="353923" y="1644243"/>
                  <a:pt x="368449" y="1682451"/>
                  <a:pt x="368483" y="1625881"/>
                </a:cubicBezTo>
                <a:cubicBezTo>
                  <a:pt x="367181" y="1622619"/>
                  <a:pt x="369088" y="1615868"/>
                  <a:pt x="371077" y="1616704"/>
                </a:cubicBezTo>
                <a:cubicBezTo>
                  <a:pt x="371005" y="1604306"/>
                  <a:pt x="384453" y="1569256"/>
                  <a:pt x="383008" y="1551493"/>
                </a:cubicBezTo>
                <a:cubicBezTo>
                  <a:pt x="390598" y="1517303"/>
                  <a:pt x="381821" y="1500132"/>
                  <a:pt x="384834" y="1475233"/>
                </a:cubicBezTo>
                <a:cubicBezTo>
                  <a:pt x="393221" y="1446677"/>
                  <a:pt x="400498" y="1430031"/>
                  <a:pt x="418371" y="1380155"/>
                </a:cubicBezTo>
                <a:lnTo>
                  <a:pt x="469641" y="1210871"/>
                </a:lnTo>
                <a:cubicBezTo>
                  <a:pt x="507460" y="1148093"/>
                  <a:pt x="486915" y="1066841"/>
                  <a:pt x="489701" y="1028427"/>
                </a:cubicBezTo>
                <a:cubicBezTo>
                  <a:pt x="478454" y="1012506"/>
                  <a:pt x="490925" y="999600"/>
                  <a:pt x="486354" y="980383"/>
                </a:cubicBezTo>
                <a:cubicBezTo>
                  <a:pt x="483880" y="937629"/>
                  <a:pt x="471099" y="895192"/>
                  <a:pt x="479762" y="839699"/>
                </a:cubicBezTo>
                <a:cubicBezTo>
                  <a:pt x="444550" y="814685"/>
                  <a:pt x="465776" y="749644"/>
                  <a:pt x="445664" y="696545"/>
                </a:cubicBezTo>
                <a:cubicBezTo>
                  <a:pt x="441558" y="665722"/>
                  <a:pt x="459046" y="617297"/>
                  <a:pt x="440047" y="606615"/>
                </a:cubicBezTo>
                <a:cubicBezTo>
                  <a:pt x="451675" y="592509"/>
                  <a:pt x="432892" y="579307"/>
                  <a:pt x="431225" y="563889"/>
                </a:cubicBezTo>
                <a:cubicBezTo>
                  <a:pt x="438618" y="551582"/>
                  <a:pt x="432225" y="545475"/>
                  <a:pt x="430803" y="534294"/>
                </a:cubicBezTo>
                <a:cubicBezTo>
                  <a:pt x="435364" y="529230"/>
                  <a:pt x="435126" y="519767"/>
                  <a:pt x="429777" y="516548"/>
                </a:cubicBezTo>
                <a:cubicBezTo>
                  <a:pt x="417444" y="521116"/>
                  <a:pt x="423596" y="488251"/>
                  <a:pt x="415090" y="485808"/>
                </a:cubicBezTo>
                <a:cubicBezTo>
                  <a:pt x="413316" y="466733"/>
                  <a:pt x="424116" y="383903"/>
                  <a:pt x="410499" y="369873"/>
                </a:cubicBezTo>
                <a:cubicBezTo>
                  <a:pt x="404034" y="331308"/>
                  <a:pt x="425696" y="275570"/>
                  <a:pt x="425314" y="259180"/>
                </a:cubicBezTo>
                <a:cubicBezTo>
                  <a:pt x="450188" y="242918"/>
                  <a:pt x="384634" y="163766"/>
                  <a:pt x="383240" y="94173"/>
                </a:cubicBezTo>
                <a:cubicBezTo>
                  <a:pt x="385641" y="84795"/>
                  <a:pt x="385609" y="79782"/>
                  <a:pt x="379938" y="77267"/>
                </a:cubicBezTo>
                <a:cubicBezTo>
                  <a:pt x="378301" y="68220"/>
                  <a:pt x="376144" y="54774"/>
                  <a:pt x="373430" y="3885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phic 4" descr="Mop and bucket with solid fill">
            <a:extLst>
              <a:ext uri="{FF2B5EF4-FFF2-40B4-BE49-F238E27FC236}">
                <a16:creationId xmlns:a16="http://schemas.microsoft.com/office/drawing/2014/main" id="{FE62264F-D364-FB24-D19E-4EB0A0A62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27" y="1573971"/>
            <a:ext cx="3720152" cy="3720152"/>
          </a:xfrm>
          <a:prstGeom prst="rect">
            <a:avLst/>
          </a:prstGeom>
        </p:spPr>
      </p:pic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D6743CC1-38B7-0D23-1C7D-79F84103E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7400" y="2194103"/>
            <a:ext cx="5310116" cy="360993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Validated data types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Ensured numeric columns such as </a:t>
            </a:r>
            <a:r>
              <a:rPr lang="en-US" sz="1600" b="1" dirty="0"/>
              <a:t>Age and Waiting Days</a:t>
            </a:r>
            <a:r>
              <a:rPr lang="en-US" sz="1600" dirty="0"/>
              <a:t> are correctly typed for mathematical calculations.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Checked that binary medical flags (e.g., </a:t>
            </a:r>
            <a:r>
              <a:rPr lang="en-US" sz="1600" b="1" dirty="0"/>
              <a:t>Diabetes, Hypertension</a:t>
            </a:r>
            <a:r>
              <a:rPr lang="en-US" sz="1600" dirty="0"/>
              <a:t>) are properly formatted as Boolean types.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Filtered irrelevant data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Removed records with </a:t>
            </a:r>
            <a:r>
              <a:rPr lang="en-US" sz="1600" b="1" dirty="0"/>
              <a:t>negative Waiting Days</a:t>
            </a:r>
            <a:r>
              <a:rPr lang="en-US" sz="1600" dirty="0"/>
              <a:t> where scheduling dates occurred after the appointment date.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/>
              <a:t>Filtered out test records or appointments with incomplete clinical data to focus purely on valid patient behavior.</a:t>
            </a:r>
            <a:endParaRPr lang="en-US" sz="1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1B483-31A2-C038-9A69-CE20FF0D249C}"/>
              </a:ext>
            </a:extLst>
          </p:cNvPr>
          <p:cNvSpPr txBox="1"/>
          <p:nvPr/>
        </p:nvSpPr>
        <p:spPr>
          <a:xfrm>
            <a:off x="5106531" y="5869352"/>
            <a:ext cx="7085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</a:t>
            </a:r>
            <a:r>
              <a:rPr lang="en-US" b="1" dirty="0"/>
              <a:t>Result:</a:t>
            </a:r>
          </a:p>
          <a:p>
            <a:r>
              <a:rPr lang="en-US" dirty="0"/>
              <a:t>	    Clean and structured dataset ready for identifying no-show 	    drivers and creating the Operational Efficiency dashboard..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E8BC9-A361-D968-3527-AE072F966FFD}"/>
              </a:ext>
            </a:extLst>
          </p:cNvPr>
          <p:cNvSpPr txBox="1"/>
          <p:nvPr/>
        </p:nvSpPr>
        <p:spPr>
          <a:xfrm>
            <a:off x="5876731" y="609600"/>
            <a:ext cx="5310116" cy="132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cleaning</a:t>
            </a:r>
          </a:p>
        </p:txBody>
      </p:sp>
    </p:spTree>
    <p:extLst>
      <p:ext uri="{BB962C8B-B14F-4D97-AF65-F5344CB8AC3E}">
        <p14:creationId xmlns:p14="http://schemas.microsoft.com/office/powerpoint/2010/main" val="2733688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3F7C51-5178-B8DD-A587-E9534BD86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story with Data</a:t>
            </a:r>
          </a:p>
        </p:txBody>
      </p:sp>
    </p:spTree>
    <p:extLst>
      <p:ext uri="{BB962C8B-B14F-4D97-AF65-F5344CB8AC3E}">
        <p14:creationId xmlns:p14="http://schemas.microsoft.com/office/powerpoint/2010/main" val="427891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B7C014-769C-30E0-1B11-0DCA67968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35D0E348-350F-90E6-322C-29C195D6A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8133B-8CD0-14B8-6D4F-3DC70F15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626" y="329184"/>
            <a:ext cx="7214781" cy="178308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/>
              <a:t>Identify The Highest Volume Of Missed Appointments.</a:t>
            </a:r>
            <a:endParaRPr lang="en-US" sz="540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28" name="Picture 27" descr="Wood human figure">
            <a:extLst>
              <a:ext uri="{FF2B5EF4-FFF2-40B4-BE49-F238E27FC236}">
                <a16:creationId xmlns:a16="http://schemas.microsoft.com/office/drawing/2014/main" id="{4EC46384-4BCF-70F3-D789-D5B1560A7E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3" r="55632" b="-2"/>
          <a:stretch>
            <a:fillRect/>
          </a:stretch>
        </p:blipFill>
        <p:spPr>
          <a:xfrm>
            <a:off x="9351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1" name="sketchy line">
            <a:extLst>
              <a:ext uri="{FF2B5EF4-FFF2-40B4-BE49-F238E27FC236}">
                <a16:creationId xmlns:a16="http://schemas.microsoft.com/office/drawing/2014/main" id="{3492A8A6-5534-B56D-AD97-E651AC144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1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55DD4-71B4-E70C-7E35-6B93FC3EA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7AA0F0-443A-44D5-1619-F011DAD8A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955" y="1183234"/>
            <a:ext cx="9875259" cy="1209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B3FB53-22D9-B7E8-968E-D170A1C8F175}"/>
              </a:ext>
            </a:extLst>
          </p:cNvPr>
          <p:cNvSpPr txBox="1"/>
          <p:nvPr/>
        </p:nvSpPr>
        <p:spPr>
          <a:xfrm>
            <a:off x="5630779" y="3884452"/>
            <a:ext cx="5723021" cy="2398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 May alone, 78K appointments were recorded—nearly three times more than April and June combined—with the majority not receiving SMS notifications.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510651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012A7-6C54-38E9-8086-63DF48F7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672427F-2CE3-A29E-7E04-3988F5EC4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3792418-1491-A94B-0235-957030333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693E9-DEC5-3AE8-6908-C201B2402E19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In May alone, 78K appointments were recorded—nearly three times more than April and June combined—with the majority not receiving SMS notifications.</a:t>
            </a:r>
          </a:p>
        </p:txBody>
      </p:sp>
      <p:pic>
        <p:nvPicPr>
          <p:cNvPr id="13" name="Content Placeholder 8">
            <a:extLst>
              <a:ext uri="{FF2B5EF4-FFF2-40B4-BE49-F238E27FC236}">
                <a16:creationId xmlns:a16="http://schemas.microsoft.com/office/drawing/2014/main" id="{D17FDCDD-6CA5-8B9B-E1F3-4DFAA53B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61109" y="640080"/>
            <a:ext cx="6800115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6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20ACCE-5AD5-D403-9DCB-B1C6B68BF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F2F0F22-96A0-3047-8938-719FFBA94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CC1C8FB-E737-22E8-1A37-3C39653E3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3A9DAA-F4B4-653D-D312-18844E974FA0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May saw a dramatic surge with 78K appointments and 16K missed, far outpacing April and June combined.</a:t>
            </a:r>
          </a:p>
        </p:txBody>
      </p:sp>
      <p:pic>
        <p:nvPicPr>
          <p:cNvPr id="17" name="Content Placeholder 8">
            <a:extLst>
              <a:ext uri="{FF2B5EF4-FFF2-40B4-BE49-F238E27FC236}">
                <a16:creationId xmlns:a16="http://schemas.microsoft.com/office/drawing/2014/main" id="{B05DD3C6-765D-95DC-4F53-8BAC2B5CC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1733" y="658583"/>
            <a:ext cx="6800115" cy="554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307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FDF4AD-FFFE-DDE7-B56E-C1171337B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6D67C4D2-4023-F0AC-A228-60319940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734F3C-81D7-EAD2-FD44-FF3812589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811" y="513822"/>
            <a:ext cx="7663189" cy="178308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Identify Which Groups Are</a:t>
            </a:r>
            <a:br>
              <a:rPr lang="en-US" sz="5400" dirty="0"/>
            </a:br>
            <a:r>
              <a:rPr lang="en-US" sz="5400" dirty="0"/>
              <a:t>Causing The Highest Volume Of Missed Appointments.</a:t>
            </a:r>
            <a:endParaRPr lang="en-US" sz="540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28" name="Picture 27" descr="Wood human figure">
            <a:extLst>
              <a:ext uri="{FF2B5EF4-FFF2-40B4-BE49-F238E27FC236}">
                <a16:creationId xmlns:a16="http://schemas.microsoft.com/office/drawing/2014/main" id="{DAC35D43-DAE7-44D5-D1C5-44C2C579AC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3" r="55632" b="-2"/>
          <a:stretch>
            <a:fillRect/>
          </a:stretch>
        </p:blipFill>
        <p:spPr>
          <a:xfrm>
            <a:off x="9351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1" name="sketchy line">
            <a:extLst>
              <a:ext uri="{FF2B5EF4-FFF2-40B4-BE49-F238E27FC236}">
                <a16:creationId xmlns:a16="http://schemas.microsoft.com/office/drawing/2014/main" id="{4D8B136A-AA82-749C-B3FC-797A4B84A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5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3B5B8-EC28-1C72-3764-70D0C0B44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6DA958B-6C3E-1CD1-2A7B-A1880F989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A5C231F-5E0F-661C-98A2-953CCCA66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18BFA2-A61F-1F36-5A46-F5C3D5EA0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0828" y="574835"/>
            <a:ext cx="7043656" cy="19659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733492-DB67-FA04-ABE4-C2C5ADA132CB}"/>
              </a:ext>
            </a:extLst>
          </p:cNvPr>
          <p:cNvSpPr txBox="1"/>
          <p:nvPr/>
        </p:nvSpPr>
        <p:spPr>
          <a:xfrm>
            <a:off x="5630779" y="3884452"/>
            <a:ext cx="5723021" cy="2398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Individuals without scholarships missed 19.1K appointments—over seven times more than those with scholarships.</a:t>
            </a:r>
          </a:p>
        </p:txBody>
      </p:sp>
    </p:spTree>
    <p:extLst>
      <p:ext uri="{BB962C8B-B14F-4D97-AF65-F5344CB8AC3E}">
        <p14:creationId xmlns:p14="http://schemas.microsoft.com/office/powerpoint/2010/main" val="1883041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C0467-15B7-2A5D-A0DF-93BAE49E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620D688-BF6B-2D22-8525-CC4DA5E31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3AEADC-C618-1C02-5877-79ECD154E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13406-EFC1-03B7-F19D-0EB1A203EBBF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Females accounted for nearly two-thirds of missed appointments, totaling 14K compared to 7K for males.</a:t>
            </a:r>
          </a:p>
        </p:txBody>
      </p:sp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04C9C8C3-BF80-B3DB-C3D0-502A62C72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658583"/>
            <a:ext cx="5345275" cy="554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90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B67DB-AD21-E55E-F3B3-0261D889C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2A33E5C-5876-0DBD-5ABB-521D525D0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C0C58D6-2045-4EA6-DDC3-3D21B8FBA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4F68F-1624-45C2-F77C-03268CF8E663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Adults aged 36–50 missed the most appointments, significantly outpacing all other age groups.</a:t>
            </a:r>
          </a:p>
        </p:txBody>
      </p:sp>
      <p:pic>
        <p:nvPicPr>
          <p:cNvPr id="17" name="Content Placeholder 8">
            <a:extLst>
              <a:ext uri="{FF2B5EF4-FFF2-40B4-BE49-F238E27FC236}">
                <a16:creationId xmlns:a16="http://schemas.microsoft.com/office/drawing/2014/main" id="{573E0625-B770-3BB4-8FF1-822024B37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3436" y="1638300"/>
            <a:ext cx="6378038" cy="421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441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DC8B3A-3292-CEB9-00EA-E6B5A43A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7B491F48-E9CF-E8F1-8715-6CAF40F9A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02E1-CC94-2CDC-DB7E-D80E7EA11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811" y="513822"/>
            <a:ext cx="7663189" cy="178308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Identify Reasons That Are Causing The Highest Volume Of Missed Appointments.</a:t>
            </a:r>
            <a:endParaRPr lang="en-US" sz="9600" dirty="0"/>
          </a:p>
        </p:txBody>
      </p:sp>
      <p:pic>
        <p:nvPicPr>
          <p:cNvPr id="28" name="Picture 27" descr="Wood human figure">
            <a:extLst>
              <a:ext uri="{FF2B5EF4-FFF2-40B4-BE49-F238E27FC236}">
                <a16:creationId xmlns:a16="http://schemas.microsoft.com/office/drawing/2014/main" id="{6EC2DF35-0D52-8F22-4B67-70B9450314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3" r="55632" b="-2"/>
          <a:stretch>
            <a:fillRect/>
          </a:stretch>
        </p:blipFill>
        <p:spPr>
          <a:xfrm>
            <a:off x="9351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1" name="sketchy line">
            <a:extLst>
              <a:ext uri="{FF2B5EF4-FFF2-40B4-BE49-F238E27FC236}">
                <a16:creationId xmlns:a16="http://schemas.microsoft.com/office/drawing/2014/main" id="{60D676CE-6C52-7F69-F929-135A7DA67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2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49F103-74D0-684E-301A-65B8EAF59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A95665F-7558-8C3F-1B55-5C36970E4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5ED3672-15CD-A3BA-2A0E-7E1687809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67113-6E54-6BC1-EE04-DF04D682D6B3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Jardim </a:t>
            </a:r>
            <a:r>
              <a:rPr lang="en-US" sz="2000" dirty="0" err="1"/>
              <a:t>Camburi</a:t>
            </a:r>
            <a:r>
              <a:rPr lang="en-US" sz="2000" dirty="0"/>
              <a:t> had the highest number of missed appointments (1,432), leading all five clinics in no-shows.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17" name="Content Placeholder 8">
            <a:extLst>
              <a:ext uri="{FF2B5EF4-FFF2-40B4-BE49-F238E27FC236}">
                <a16:creationId xmlns:a16="http://schemas.microsoft.com/office/drawing/2014/main" id="{E71A46AD-D487-9720-9249-C880DE5DD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1579" y="1638300"/>
            <a:ext cx="5341752" cy="421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428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EDBC5-74C8-7A25-C983-E58739433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E2614D7-000C-6717-C657-C93CA31F4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42A7CE9-3ED9-6050-E76A-48616148E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EF1DAA-7B18-EE0E-06FA-78C80ED3AC2E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More missed appointments occurred when no SMS was received (12K), making up 55.86% of the total.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17" name="Content Placeholder 8">
            <a:extLst>
              <a:ext uri="{FF2B5EF4-FFF2-40B4-BE49-F238E27FC236}">
                <a16:creationId xmlns:a16="http://schemas.microsoft.com/office/drawing/2014/main" id="{A1BC4FF2-6E4D-310D-D72D-433364C74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1579" y="2546385"/>
            <a:ext cx="5341752" cy="239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29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1E4E3A-BDA3-3C53-536B-0E73D74F4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FD073CB-709B-5BAE-F204-1C01A87F6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FA930D8-9D49-9EE2-BFDC-27088A283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9FD25A-462F-F824-744D-D54729DD2A01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Long waiting times (over 7 days) are the strongest driver of missed appointments, increasing no-show likelihood by 2.4x.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17" name="Content Placeholder 8">
            <a:extLst>
              <a:ext uri="{FF2B5EF4-FFF2-40B4-BE49-F238E27FC236}">
                <a16:creationId xmlns:a16="http://schemas.microsoft.com/office/drawing/2014/main" id="{96CDF6ED-26A8-655C-12F4-842691FBA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5989" y="1178170"/>
            <a:ext cx="5484614" cy="524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638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E7B919-2E1C-E719-922A-3E5B9C8C9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0E1E487-6430-4268-2CCC-CB87B917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C20AF00-82A4-9956-958B-874CE6AFA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43C7B-7B8C-3D3C-22B8-556ADE7C94CE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In May, missed appointments peaked at 16K, driven mostly by long waiting times of 10–30 days.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17" name="Content Placeholder 8">
            <a:extLst>
              <a:ext uri="{FF2B5EF4-FFF2-40B4-BE49-F238E27FC236}">
                <a16:creationId xmlns:a16="http://schemas.microsoft.com/office/drawing/2014/main" id="{19D8EAFC-78F8-421E-5CD9-18B916ECA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0704" y="1362076"/>
            <a:ext cx="6119899" cy="509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23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67CE2-2ECA-CFAE-3114-36354E6A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E390755-8C35-268B-8DAA-03DF41952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2CA2543-6F53-5F20-CD60-62B143BC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E7765-1BDD-D73D-D333-26D58C1D8F3B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Tuesday had the highest lost hours (1,674), while Saturday showed the highest missed rate at 23.08% by missed (9) of total (39) appointments.</a:t>
            </a:r>
          </a:p>
        </p:txBody>
      </p:sp>
      <p:pic>
        <p:nvPicPr>
          <p:cNvPr id="17" name="Content Placeholder 8">
            <a:extLst>
              <a:ext uri="{FF2B5EF4-FFF2-40B4-BE49-F238E27FC236}">
                <a16:creationId xmlns:a16="http://schemas.microsoft.com/office/drawing/2014/main" id="{8916CCA2-C90D-C9D4-D45B-85844228A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07135" y="1171575"/>
            <a:ext cx="5767037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86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39ECE-EAFA-EC15-5E0A-1A24593BF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BCEA61E8-BEA1-3F31-58F4-7C8E5C270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ED310-4F96-B413-2B42-5940F7DF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811" y="513822"/>
            <a:ext cx="7663189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sz="5400" dirty="0"/>
              <a:t>Appointments Efficiency &amp; Resource Waste Analysis.</a:t>
            </a:r>
            <a:endParaRPr lang="en-US" sz="9600" dirty="0"/>
          </a:p>
        </p:txBody>
      </p:sp>
      <p:pic>
        <p:nvPicPr>
          <p:cNvPr id="28" name="Picture 27" descr="Wood human figure">
            <a:extLst>
              <a:ext uri="{FF2B5EF4-FFF2-40B4-BE49-F238E27FC236}">
                <a16:creationId xmlns:a16="http://schemas.microsoft.com/office/drawing/2014/main" id="{367981D4-21EE-4A67-D086-EFF69752FB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3" r="55632" b="-2"/>
          <a:stretch>
            <a:fillRect/>
          </a:stretch>
        </p:blipFill>
        <p:spPr>
          <a:xfrm>
            <a:off x="9351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1" name="sketchy line">
            <a:extLst>
              <a:ext uri="{FF2B5EF4-FFF2-40B4-BE49-F238E27FC236}">
                <a16:creationId xmlns:a16="http://schemas.microsoft.com/office/drawing/2014/main" id="{75F36B2E-FD5C-8B1F-D6EF-2D2ECA728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0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511DD-23AF-205A-6621-BD766ECC8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9501433-E233-7690-17C8-F0C0EBA4F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C16118E-0C71-4CBD-51B2-FAF56893A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AAC4C0-4201-1DAF-63BB-D719B3D33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8955" y="1290752"/>
            <a:ext cx="9875259" cy="9946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3735A0-28DD-2570-8103-AFCD499FEB6B}"/>
              </a:ext>
            </a:extLst>
          </p:cNvPr>
          <p:cNvSpPr txBox="1"/>
          <p:nvPr/>
        </p:nvSpPr>
        <p:spPr>
          <a:xfrm>
            <a:off x="5630779" y="3884452"/>
            <a:ext cx="5723021" cy="2398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Long waiting times contributed to over half of the 22K missed appointments, driving 7.2K lost hours and $1M in lost revenue.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607055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FA4D0-112B-5C7C-E5BB-AA236DA75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1B69D18-ED5A-FAB9-9440-8681AA646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0B7E03A-2760-B7BD-8DA7-69D78340D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A2F356-0A73-78AC-7FD7-C77846A44590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The current show rate stands at 79.74%, falling short of the 85% target.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We need 5.26% more to reach target rate of show</a:t>
            </a:r>
          </a:p>
        </p:txBody>
      </p:sp>
      <p:pic>
        <p:nvPicPr>
          <p:cNvPr id="17" name="Content Placeholder 8">
            <a:extLst>
              <a:ext uri="{FF2B5EF4-FFF2-40B4-BE49-F238E27FC236}">
                <a16:creationId xmlns:a16="http://schemas.microsoft.com/office/drawing/2014/main" id="{C07C46EB-1F03-4945-6B24-73571C8EB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61713" y="2296434"/>
            <a:ext cx="6460586" cy="33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59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19FC9-9F8C-7537-2386-7937E760D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42C77-372D-81BC-420B-4308CE957C7C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Jardim </a:t>
            </a:r>
            <a:r>
              <a:rPr lang="en-US" sz="2000" dirty="0" err="1"/>
              <a:t>Camburi</a:t>
            </a:r>
            <a:r>
              <a:rPr lang="en-US" sz="2000" dirty="0"/>
              <a:t> leads in revenue leakage with $71,600 lost, contributing to a total clinic loss of $403,350 from missed appointments averaging 20.76%.</a:t>
            </a:r>
          </a:p>
        </p:txBody>
      </p:sp>
      <p:pic>
        <p:nvPicPr>
          <p:cNvPr id="17" name="Content Placeholder 8">
            <a:extLst>
              <a:ext uri="{FF2B5EF4-FFF2-40B4-BE49-F238E27FC236}">
                <a16:creationId xmlns:a16="http://schemas.microsoft.com/office/drawing/2014/main" id="{CD8BFC6E-8B7F-FA35-A9EC-2CD77080F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445457" y="1562100"/>
            <a:ext cx="6155141" cy="425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81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4A976-346B-C6A1-96DD-DE13492EF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A246581-26AF-9501-E7C1-2759395B9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6A7497A-E047-91CE-ADC6-3C58D2602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371DAC-3183-ED54-08A2-91F47578C901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largest financial losses stem from patients aged 19–50, especially on Wednesdays, with long waiting times (10–30 days) and even among those who received SMS reminders.</a:t>
            </a:r>
            <a:endParaRPr lang="en-US" sz="2000" dirty="0"/>
          </a:p>
        </p:txBody>
      </p:sp>
      <p:pic>
        <p:nvPicPr>
          <p:cNvPr id="17" name="Content Placeholder 8">
            <a:extLst>
              <a:ext uri="{FF2B5EF4-FFF2-40B4-BE49-F238E27FC236}">
                <a16:creationId xmlns:a16="http://schemas.microsoft.com/office/drawing/2014/main" id="{3C1CE7D0-5E40-DB5F-7456-23DBC65BD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61046" y="923925"/>
            <a:ext cx="5323962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08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A06B5-44BE-7B86-FDDF-951EDA2FE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77091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D4E9087-649C-62FF-8468-26F5FED8B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123B989-D173-2F65-9863-90B124DB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9438" y="288573"/>
            <a:ext cx="425007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Strategic Insights.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9BA09D82-5FF4-F43C-9345-7C907F740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D202E42-733A-3F1C-D84B-235F66042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8997976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distribution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similar for both groups, but overall usage is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male-dominated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BA9BF9-DD6B-DFC3-C3ED-B0749BCAEBBC}"/>
              </a:ext>
            </a:extLst>
          </p:cNvPr>
          <p:cNvSpPr/>
          <p:nvPr/>
        </p:nvSpPr>
        <p:spPr>
          <a:xfrm>
            <a:off x="8177818" y="6112749"/>
            <a:ext cx="2660400" cy="72"/>
          </a:xfrm>
          <a:prstGeom prst="rect">
            <a:avLst/>
          </a:pr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A92C21-6D0D-CD56-F360-ECA7FF120F13}"/>
              </a:ext>
            </a:extLst>
          </p:cNvPr>
          <p:cNvSpPr/>
          <p:nvPr/>
        </p:nvSpPr>
        <p:spPr>
          <a:xfrm>
            <a:off x="4561206" y="6112194"/>
            <a:ext cx="2822400" cy="72"/>
          </a:xfrm>
          <a:prstGeom prst="rect">
            <a:avLst/>
          </a:prstGeom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489B3A-0685-EF59-92DD-589617605220}"/>
              </a:ext>
            </a:extLst>
          </p:cNvPr>
          <p:cNvSpPr/>
          <p:nvPr/>
        </p:nvSpPr>
        <p:spPr>
          <a:xfrm>
            <a:off x="950018" y="2113294"/>
            <a:ext cx="2660400" cy="3998900"/>
          </a:xfrm>
          <a:custGeom>
            <a:avLst/>
            <a:gdLst>
              <a:gd name="connsiteX0" fmla="*/ 0 w 3414946"/>
              <a:gd name="connsiteY0" fmla="*/ 0 h 4192805"/>
              <a:gd name="connsiteX1" fmla="*/ 3414946 w 3414946"/>
              <a:gd name="connsiteY1" fmla="*/ 0 h 4192805"/>
              <a:gd name="connsiteX2" fmla="*/ 3414946 w 3414946"/>
              <a:gd name="connsiteY2" fmla="*/ 4192805 h 4192805"/>
              <a:gd name="connsiteX3" fmla="*/ 0 w 3414946"/>
              <a:gd name="connsiteY3" fmla="*/ 4192805 h 4192805"/>
              <a:gd name="connsiteX4" fmla="*/ 0 w 3414946"/>
              <a:gd name="connsiteY4" fmla="*/ 0 h 419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4946" h="4192805">
                <a:moveTo>
                  <a:pt x="0" y="0"/>
                </a:moveTo>
                <a:lnTo>
                  <a:pt x="3414946" y="0"/>
                </a:lnTo>
                <a:lnTo>
                  <a:pt x="3414946" y="4192805"/>
                </a:lnTo>
                <a:lnTo>
                  <a:pt x="0" y="41928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243" tIns="1923465" rIns="266243" bIns="414057" numCol="1" spcCol="1270" anchor="t" anchorCtr="0">
            <a:noAutofit/>
          </a:bodyPr>
          <a:lstStyle/>
          <a:p>
            <a:r>
              <a:rPr lang="en-US" sz="1700" b="1" dirty="0"/>
              <a:t>The "7Day Risk": [High Priority] </a:t>
            </a:r>
            <a:r>
              <a:rPr lang="en-US" sz="1700" dirty="0"/>
              <a:t>Patients waiting more than 7 days are </a:t>
            </a:r>
            <a:r>
              <a:rPr lang="en-US" sz="1700" b="1" dirty="0"/>
              <a:t>2.48x</a:t>
            </a:r>
            <a:r>
              <a:rPr lang="en-US" sz="1700" dirty="0"/>
              <a:t> more</a:t>
            </a:r>
          </a:p>
          <a:p>
            <a:r>
              <a:rPr lang="en-US" sz="1700" dirty="0"/>
              <a:t>likely to miss their</a:t>
            </a:r>
          </a:p>
          <a:p>
            <a:r>
              <a:rPr lang="en-US" sz="1700" dirty="0"/>
              <a:t>appointment.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20A3F41-1964-0436-1359-442A13EB0557}"/>
              </a:ext>
            </a:extLst>
          </p:cNvPr>
          <p:cNvSpPr/>
          <p:nvPr/>
        </p:nvSpPr>
        <p:spPr>
          <a:xfrm>
            <a:off x="4561977" y="2113221"/>
            <a:ext cx="2821629" cy="3998972"/>
          </a:xfrm>
          <a:custGeom>
            <a:avLst/>
            <a:gdLst>
              <a:gd name="connsiteX0" fmla="*/ 0 w 3414946"/>
              <a:gd name="connsiteY0" fmla="*/ 0 h 4192805"/>
              <a:gd name="connsiteX1" fmla="*/ 3414946 w 3414946"/>
              <a:gd name="connsiteY1" fmla="*/ 0 h 4192805"/>
              <a:gd name="connsiteX2" fmla="*/ 3414946 w 3414946"/>
              <a:gd name="connsiteY2" fmla="*/ 4192805 h 4192805"/>
              <a:gd name="connsiteX3" fmla="*/ 0 w 3414946"/>
              <a:gd name="connsiteY3" fmla="*/ 4192805 h 4192805"/>
              <a:gd name="connsiteX4" fmla="*/ 0 w 3414946"/>
              <a:gd name="connsiteY4" fmla="*/ 0 h 419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4946" h="4192805">
                <a:moveTo>
                  <a:pt x="0" y="0"/>
                </a:moveTo>
                <a:lnTo>
                  <a:pt x="3414946" y="0"/>
                </a:lnTo>
                <a:lnTo>
                  <a:pt x="3414946" y="4192805"/>
                </a:lnTo>
                <a:lnTo>
                  <a:pt x="0" y="419280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5000"/>
              <a:lumOff val="75000"/>
              <a:alpha val="90000"/>
            </a:schemeClr>
          </a:solidFill>
        </p:spPr>
        <p:style>
          <a:lnRef idx="2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243" tIns="1923465" rIns="266243" bIns="414057" numCol="1" spcCol="1270" anchor="t" anchorCtr="0">
            <a:noAutofit/>
          </a:bodyPr>
          <a:lstStyle/>
          <a:p>
            <a:r>
              <a:rPr lang="en-US" sz="1700" b="1" dirty="0"/>
              <a:t>SMS Communication</a:t>
            </a:r>
          </a:p>
          <a:p>
            <a:r>
              <a:rPr lang="en-US" sz="1700" b="1" dirty="0"/>
              <a:t>Gap:</a:t>
            </a:r>
            <a:r>
              <a:rPr lang="en-US" sz="1700" dirty="0"/>
              <a:t> </a:t>
            </a:r>
            <a:r>
              <a:rPr lang="en-US" sz="1700" b="1" dirty="0"/>
              <a:t>[Quick Win]</a:t>
            </a:r>
          </a:p>
          <a:p>
            <a:r>
              <a:rPr lang="en-US" sz="1700" dirty="0"/>
              <a:t>Currently, </a:t>
            </a:r>
            <a:r>
              <a:rPr lang="en-US" sz="1700" b="1" dirty="0"/>
              <a:t>32.33%</a:t>
            </a:r>
            <a:r>
              <a:rPr lang="en-US" sz="1700" dirty="0"/>
              <a:t> of</a:t>
            </a:r>
          </a:p>
          <a:p>
            <a:r>
              <a:rPr lang="en-US" sz="1700" dirty="0"/>
              <a:t>appointments are not</a:t>
            </a:r>
          </a:p>
          <a:p>
            <a:r>
              <a:rPr lang="en-US" sz="1700" dirty="0"/>
              <a:t>receiving SMS reminders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6CA071F-B9C8-6971-526C-C93C01878C24}"/>
              </a:ext>
            </a:extLst>
          </p:cNvPr>
          <p:cNvSpPr/>
          <p:nvPr/>
        </p:nvSpPr>
        <p:spPr>
          <a:xfrm>
            <a:off x="8176918" y="2113222"/>
            <a:ext cx="2661300" cy="3999600"/>
          </a:xfrm>
          <a:custGeom>
            <a:avLst/>
            <a:gdLst>
              <a:gd name="connsiteX0" fmla="*/ 0 w 3414946"/>
              <a:gd name="connsiteY0" fmla="*/ 0 h 4192805"/>
              <a:gd name="connsiteX1" fmla="*/ 3414946 w 3414946"/>
              <a:gd name="connsiteY1" fmla="*/ 0 h 4192805"/>
              <a:gd name="connsiteX2" fmla="*/ 3414946 w 3414946"/>
              <a:gd name="connsiteY2" fmla="*/ 4192805 h 4192805"/>
              <a:gd name="connsiteX3" fmla="*/ 0 w 3414946"/>
              <a:gd name="connsiteY3" fmla="*/ 4192805 h 4192805"/>
              <a:gd name="connsiteX4" fmla="*/ 0 w 3414946"/>
              <a:gd name="connsiteY4" fmla="*/ 0 h 419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4946" h="4192805">
                <a:moveTo>
                  <a:pt x="0" y="0"/>
                </a:moveTo>
                <a:lnTo>
                  <a:pt x="3414946" y="0"/>
                </a:lnTo>
                <a:lnTo>
                  <a:pt x="3414946" y="4192805"/>
                </a:lnTo>
                <a:lnTo>
                  <a:pt x="0" y="41928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  <a:alpha val="90000"/>
            </a:schemeClr>
          </a:solidFill>
        </p:spPr>
        <p:style>
          <a:lnRef idx="2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243" tIns="1923465" rIns="266243" bIns="414057" numCol="1" spcCol="1270" anchor="t" anchorCtr="0">
            <a:noAutofit/>
          </a:bodyPr>
          <a:lstStyle/>
          <a:p>
            <a:r>
              <a:rPr lang="en-US" sz="1700" b="1" dirty="0"/>
              <a:t>Friday Operational</a:t>
            </a:r>
          </a:p>
          <a:p>
            <a:r>
              <a:rPr lang="en-US" sz="1700" b="1" dirty="0"/>
              <a:t>Waste:</a:t>
            </a:r>
            <a:r>
              <a:rPr lang="en-US" sz="1700" dirty="0"/>
              <a:t> </a:t>
            </a:r>
            <a:r>
              <a:rPr lang="en-US" sz="1700" b="1" dirty="0"/>
              <a:t>[Strategic</a:t>
            </a:r>
          </a:p>
          <a:p>
            <a:r>
              <a:rPr lang="en-US" sz="1700" b="1" dirty="0"/>
              <a:t>Adjustment]</a:t>
            </a:r>
            <a:r>
              <a:rPr lang="en-US" sz="1700" dirty="0"/>
              <a:t> Fridays</a:t>
            </a:r>
          </a:p>
          <a:p>
            <a:r>
              <a:rPr lang="en-US" sz="1700" dirty="0"/>
              <a:t>show the highest no- show rate at </a:t>
            </a:r>
            <a:r>
              <a:rPr lang="en-US" sz="1700" b="1" dirty="0"/>
              <a:t>21.34%</a:t>
            </a:r>
          </a:p>
          <a:p>
            <a:r>
              <a:rPr lang="en-US" sz="1700" dirty="0"/>
              <a:t>causing the most</a:t>
            </a:r>
          </a:p>
          <a:p>
            <a:r>
              <a:rPr lang="en-US" sz="1700" dirty="0"/>
              <a:t>significant "idle time“</a:t>
            </a:r>
          </a:p>
          <a:p>
            <a:r>
              <a:rPr lang="en-US" sz="1700" dirty="0"/>
              <a:t>for staff.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76FC20-D1B7-41DC-4E56-823ACF495985}"/>
              </a:ext>
            </a:extLst>
          </p:cNvPr>
          <p:cNvSpPr/>
          <p:nvPr/>
        </p:nvSpPr>
        <p:spPr>
          <a:xfrm>
            <a:off x="968644" y="6112677"/>
            <a:ext cx="2660400" cy="72"/>
          </a:xfrm>
          <a:prstGeom prst="rect">
            <a:avLst/>
          </a:pr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35741CF8-B553-0A87-1B84-BC441361E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shows strong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Q4 contributing nearly 40% of annual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6745C74-67F4-9CC1-343D-EA043774FD08}"/>
              </a:ext>
            </a:extLst>
          </p:cNvPr>
          <p:cNvSpPr/>
          <p:nvPr/>
        </p:nvSpPr>
        <p:spPr>
          <a:xfrm>
            <a:off x="1663707" y="2346450"/>
            <a:ext cx="1257841" cy="1257841"/>
          </a:xfrm>
          <a:custGeom>
            <a:avLst/>
            <a:gdLst>
              <a:gd name="connsiteX0" fmla="*/ 0 w 1257841"/>
              <a:gd name="connsiteY0" fmla="*/ 628921 h 1257841"/>
              <a:gd name="connsiteX1" fmla="*/ 628921 w 1257841"/>
              <a:gd name="connsiteY1" fmla="*/ 0 h 1257841"/>
              <a:gd name="connsiteX2" fmla="*/ 1257842 w 1257841"/>
              <a:gd name="connsiteY2" fmla="*/ 628921 h 1257841"/>
              <a:gd name="connsiteX3" fmla="*/ 628921 w 1257841"/>
              <a:gd name="connsiteY3" fmla="*/ 1257842 h 1257841"/>
              <a:gd name="connsiteX4" fmla="*/ 0 w 1257841"/>
              <a:gd name="connsiteY4" fmla="*/ 628921 h 125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841" h="1257841">
                <a:moveTo>
                  <a:pt x="0" y="628921"/>
                </a:moveTo>
                <a:cubicBezTo>
                  <a:pt x="0" y="281578"/>
                  <a:pt x="281578" y="0"/>
                  <a:pt x="628921" y="0"/>
                </a:cubicBezTo>
                <a:cubicBezTo>
                  <a:pt x="976264" y="0"/>
                  <a:pt x="1257842" y="281578"/>
                  <a:pt x="1257842" y="628921"/>
                </a:cubicBezTo>
                <a:cubicBezTo>
                  <a:pt x="1257842" y="976264"/>
                  <a:pt x="976264" y="1257842"/>
                  <a:pt x="628921" y="1257842"/>
                </a:cubicBezTo>
                <a:cubicBezTo>
                  <a:pt x="281578" y="1257842"/>
                  <a:pt x="0" y="976264"/>
                  <a:pt x="0" y="628921"/>
                </a:cubicBezTo>
                <a:close/>
              </a:path>
            </a:pathLst>
          </a:cu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273" tIns="196907" rIns="282273" bIns="196907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800" kern="1200" dirty="0"/>
              <a:t>1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AA3F974-CF8B-15A5-FE92-6A533D589FE6}"/>
              </a:ext>
            </a:extLst>
          </p:cNvPr>
          <p:cNvSpPr/>
          <p:nvPr/>
        </p:nvSpPr>
        <p:spPr>
          <a:xfrm>
            <a:off x="5343485" y="2346450"/>
            <a:ext cx="1257841" cy="1257841"/>
          </a:xfrm>
          <a:custGeom>
            <a:avLst/>
            <a:gdLst>
              <a:gd name="connsiteX0" fmla="*/ 0 w 1257841"/>
              <a:gd name="connsiteY0" fmla="*/ 628921 h 1257841"/>
              <a:gd name="connsiteX1" fmla="*/ 628921 w 1257841"/>
              <a:gd name="connsiteY1" fmla="*/ 0 h 1257841"/>
              <a:gd name="connsiteX2" fmla="*/ 1257842 w 1257841"/>
              <a:gd name="connsiteY2" fmla="*/ 628921 h 1257841"/>
              <a:gd name="connsiteX3" fmla="*/ 628921 w 1257841"/>
              <a:gd name="connsiteY3" fmla="*/ 1257842 h 1257841"/>
              <a:gd name="connsiteX4" fmla="*/ 0 w 1257841"/>
              <a:gd name="connsiteY4" fmla="*/ 628921 h 125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841" h="1257841">
                <a:moveTo>
                  <a:pt x="0" y="628921"/>
                </a:moveTo>
                <a:cubicBezTo>
                  <a:pt x="0" y="281578"/>
                  <a:pt x="281578" y="0"/>
                  <a:pt x="628921" y="0"/>
                </a:cubicBezTo>
                <a:cubicBezTo>
                  <a:pt x="976264" y="0"/>
                  <a:pt x="1257842" y="281578"/>
                  <a:pt x="1257842" y="628921"/>
                </a:cubicBezTo>
                <a:cubicBezTo>
                  <a:pt x="1257842" y="976264"/>
                  <a:pt x="976264" y="1257842"/>
                  <a:pt x="628921" y="1257842"/>
                </a:cubicBezTo>
                <a:cubicBezTo>
                  <a:pt x="281578" y="1257842"/>
                  <a:pt x="0" y="976264"/>
                  <a:pt x="0" y="628921"/>
                </a:cubicBezTo>
                <a:close/>
              </a:path>
            </a:pathLst>
          </a:custGeom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273" tIns="196907" rIns="282273" bIns="196907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800" kern="1200"/>
              <a:t>2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80DBAE9-A9F1-17A2-DF77-CD9F7E103A15}"/>
              </a:ext>
            </a:extLst>
          </p:cNvPr>
          <p:cNvSpPr/>
          <p:nvPr/>
        </p:nvSpPr>
        <p:spPr>
          <a:xfrm>
            <a:off x="8878647" y="2346450"/>
            <a:ext cx="1257841" cy="1257841"/>
          </a:xfrm>
          <a:custGeom>
            <a:avLst/>
            <a:gdLst>
              <a:gd name="connsiteX0" fmla="*/ 0 w 1257841"/>
              <a:gd name="connsiteY0" fmla="*/ 628921 h 1257841"/>
              <a:gd name="connsiteX1" fmla="*/ 628921 w 1257841"/>
              <a:gd name="connsiteY1" fmla="*/ 0 h 1257841"/>
              <a:gd name="connsiteX2" fmla="*/ 1257842 w 1257841"/>
              <a:gd name="connsiteY2" fmla="*/ 628921 h 1257841"/>
              <a:gd name="connsiteX3" fmla="*/ 628921 w 1257841"/>
              <a:gd name="connsiteY3" fmla="*/ 1257842 h 1257841"/>
              <a:gd name="connsiteX4" fmla="*/ 0 w 1257841"/>
              <a:gd name="connsiteY4" fmla="*/ 628921 h 125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841" h="1257841">
                <a:moveTo>
                  <a:pt x="0" y="628921"/>
                </a:moveTo>
                <a:cubicBezTo>
                  <a:pt x="0" y="281578"/>
                  <a:pt x="281578" y="0"/>
                  <a:pt x="628921" y="0"/>
                </a:cubicBezTo>
                <a:cubicBezTo>
                  <a:pt x="976264" y="0"/>
                  <a:pt x="1257842" y="281578"/>
                  <a:pt x="1257842" y="628921"/>
                </a:cubicBezTo>
                <a:cubicBezTo>
                  <a:pt x="1257842" y="976264"/>
                  <a:pt x="976264" y="1257842"/>
                  <a:pt x="628921" y="1257842"/>
                </a:cubicBezTo>
                <a:cubicBezTo>
                  <a:pt x="281578" y="1257842"/>
                  <a:pt x="0" y="976264"/>
                  <a:pt x="0" y="628921"/>
                </a:cubicBez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273" tIns="196907" rIns="282273" bIns="196907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800" kern="1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458101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45B1F-9EE5-FF86-FDEE-43D923B85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CA8F618F-91D6-1C3E-AFEC-54C4BA2D2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B6A418-7361-04D9-8D81-D61B19D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9438" y="288573"/>
            <a:ext cx="425007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Strategic Insights.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349275AE-D7F0-4B5D-2367-51EEAFA2F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3019CDC-1CFC-8778-0FAE-45276717F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8997976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distribution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similar for both groups, but overall usage is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male-dominated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9F3D13-6F98-EF80-DC88-4DA7CEEB0892}"/>
              </a:ext>
            </a:extLst>
          </p:cNvPr>
          <p:cNvSpPr/>
          <p:nvPr/>
        </p:nvSpPr>
        <p:spPr>
          <a:xfrm>
            <a:off x="8177818" y="6112749"/>
            <a:ext cx="2836800" cy="72"/>
          </a:xfrm>
          <a:prstGeom prst="rect">
            <a:avLst/>
          </a:pr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192E65-0123-54BD-3E79-89F645487D15}"/>
              </a:ext>
            </a:extLst>
          </p:cNvPr>
          <p:cNvSpPr/>
          <p:nvPr/>
        </p:nvSpPr>
        <p:spPr>
          <a:xfrm>
            <a:off x="4561206" y="6105769"/>
            <a:ext cx="2959200" cy="72"/>
          </a:xfrm>
          <a:prstGeom prst="rect">
            <a:avLst/>
          </a:prstGeom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35903D-174B-AB26-C10F-E220A8E46E1B}"/>
              </a:ext>
            </a:extLst>
          </p:cNvPr>
          <p:cNvSpPr/>
          <p:nvPr/>
        </p:nvSpPr>
        <p:spPr>
          <a:xfrm>
            <a:off x="968644" y="2106869"/>
            <a:ext cx="2721266" cy="3998900"/>
          </a:xfrm>
          <a:custGeom>
            <a:avLst/>
            <a:gdLst>
              <a:gd name="connsiteX0" fmla="*/ 0 w 3414946"/>
              <a:gd name="connsiteY0" fmla="*/ 0 h 4192805"/>
              <a:gd name="connsiteX1" fmla="*/ 3414946 w 3414946"/>
              <a:gd name="connsiteY1" fmla="*/ 0 h 4192805"/>
              <a:gd name="connsiteX2" fmla="*/ 3414946 w 3414946"/>
              <a:gd name="connsiteY2" fmla="*/ 4192805 h 4192805"/>
              <a:gd name="connsiteX3" fmla="*/ 0 w 3414946"/>
              <a:gd name="connsiteY3" fmla="*/ 4192805 h 4192805"/>
              <a:gd name="connsiteX4" fmla="*/ 0 w 3414946"/>
              <a:gd name="connsiteY4" fmla="*/ 0 h 419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4946" h="4192805">
                <a:moveTo>
                  <a:pt x="0" y="0"/>
                </a:moveTo>
                <a:lnTo>
                  <a:pt x="3414946" y="0"/>
                </a:lnTo>
                <a:lnTo>
                  <a:pt x="3414946" y="4192805"/>
                </a:lnTo>
                <a:lnTo>
                  <a:pt x="0" y="41928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243" tIns="1923465" rIns="266243" bIns="414057" numCol="1" spcCol="1270" anchor="t" anchorCtr="0">
            <a:noAutofit/>
          </a:bodyPr>
          <a:lstStyle/>
          <a:p>
            <a:r>
              <a:rPr lang="en-US" sz="1700" b="1" dirty="0"/>
              <a:t>Geographic Focus: [Critical Local Action] </a:t>
            </a:r>
            <a:r>
              <a:rPr lang="en-US" sz="1700" dirty="0"/>
              <a:t>The </a:t>
            </a:r>
            <a:r>
              <a:rPr lang="en-US" sz="1700" b="1" dirty="0"/>
              <a:t>ITARARÃ</a:t>
            </a:r>
            <a:r>
              <a:rPr lang="en-US" sz="1700" dirty="0"/>
              <a:t> clinic</a:t>
            </a:r>
          </a:p>
          <a:p>
            <a:r>
              <a:rPr lang="en-US" sz="1700" dirty="0"/>
              <a:t>alone accounts for</a:t>
            </a:r>
          </a:p>
          <a:p>
            <a:r>
              <a:rPr lang="en-US" sz="1700" b="1" dirty="0"/>
              <a:t>$44,900</a:t>
            </a:r>
            <a:r>
              <a:rPr lang="en-US" sz="1700" dirty="0"/>
              <a:t> in lost revenue with a 26.17% no-show rate.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5DA29D3-B099-28E7-B4E4-E9FC23E89D43}"/>
              </a:ext>
            </a:extLst>
          </p:cNvPr>
          <p:cNvSpPr/>
          <p:nvPr/>
        </p:nvSpPr>
        <p:spPr>
          <a:xfrm>
            <a:off x="4549834" y="2106796"/>
            <a:ext cx="2960087" cy="3998972"/>
          </a:xfrm>
          <a:custGeom>
            <a:avLst/>
            <a:gdLst>
              <a:gd name="connsiteX0" fmla="*/ 0 w 3414946"/>
              <a:gd name="connsiteY0" fmla="*/ 0 h 4192805"/>
              <a:gd name="connsiteX1" fmla="*/ 3414946 w 3414946"/>
              <a:gd name="connsiteY1" fmla="*/ 0 h 4192805"/>
              <a:gd name="connsiteX2" fmla="*/ 3414946 w 3414946"/>
              <a:gd name="connsiteY2" fmla="*/ 4192805 h 4192805"/>
              <a:gd name="connsiteX3" fmla="*/ 0 w 3414946"/>
              <a:gd name="connsiteY3" fmla="*/ 4192805 h 4192805"/>
              <a:gd name="connsiteX4" fmla="*/ 0 w 3414946"/>
              <a:gd name="connsiteY4" fmla="*/ 0 h 419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4946" h="4192805">
                <a:moveTo>
                  <a:pt x="0" y="0"/>
                </a:moveTo>
                <a:lnTo>
                  <a:pt x="3414946" y="0"/>
                </a:lnTo>
                <a:lnTo>
                  <a:pt x="3414946" y="4192805"/>
                </a:lnTo>
                <a:lnTo>
                  <a:pt x="0" y="419280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5000"/>
              <a:lumOff val="75000"/>
              <a:alpha val="90000"/>
            </a:schemeClr>
          </a:solidFill>
        </p:spPr>
        <p:style>
          <a:lnRef idx="2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243" tIns="1923465" rIns="266243" bIns="414057" numCol="1" spcCol="1270" anchor="t" anchorCtr="0">
            <a:noAutofit/>
          </a:bodyPr>
          <a:lstStyle/>
          <a:p>
            <a:pPr algn="ctr"/>
            <a:r>
              <a:rPr lang="en-US" sz="1700" b="1" dirty="0"/>
              <a:t>Low-Risk "Reliable” Profiles: [Resource Optimization]</a:t>
            </a:r>
          </a:p>
          <a:p>
            <a:pPr algn="ctr"/>
            <a:r>
              <a:rPr lang="en-US" sz="1700" dirty="0"/>
              <a:t>Patients with hypertension or diabetes show lower no-show rates (~ 17-18%)..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9A06A8E-6333-8DC7-0B23-CEEDDB537749}"/>
              </a:ext>
            </a:extLst>
          </p:cNvPr>
          <p:cNvSpPr/>
          <p:nvPr/>
        </p:nvSpPr>
        <p:spPr>
          <a:xfrm>
            <a:off x="8177818" y="2106168"/>
            <a:ext cx="2836030" cy="3999600"/>
          </a:xfrm>
          <a:custGeom>
            <a:avLst/>
            <a:gdLst>
              <a:gd name="connsiteX0" fmla="*/ 0 w 3414946"/>
              <a:gd name="connsiteY0" fmla="*/ 0 h 4192805"/>
              <a:gd name="connsiteX1" fmla="*/ 3414946 w 3414946"/>
              <a:gd name="connsiteY1" fmla="*/ 0 h 4192805"/>
              <a:gd name="connsiteX2" fmla="*/ 3414946 w 3414946"/>
              <a:gd name="connsiteY2" fmla="*/ 4192805 h 4192805"/>
              <a:gd name="connsiteX3" fmla="*/ 0 w 3414946"/>
              <a:gd name="connsiteY3" fmla="*/ 4192805 h 4192805"/>
              <a:gd name="connsiteX4" fmla="*/ 0 w 3414946"/>
              <a:gd name="connsiteY4" fmla="*/ 0 h 419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4946" h="4192805">
                <a:moveTo>
                  <a:pt x="0" y="0"/>
                </a:moveTo>
                <a:lnTo>
                  <a:pt x="3414946" y="0"/>
                </a:lnTo>
                <a:lnTo>
                  <a:pt x="3414946" y="4192805"/>
                </a:lnTo>
                <a:lnTo>
                  <a:pt x="0" y="41928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  <a:alpha val="90000"/>
            </a:schemeClr>
          </a:solidFill>
        </p:spPr>
        <p:style>
          <a:lnRef idx="2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243" tIns="1923465" rIns="266243" bIns="414057" numCol="1" spcCol="1270" anchor="t" anchorCtr="0">
            <a:noAutofit/>
          </a:bodyPr>
          <a:lstStyle/>
          <a:p>
            <a:r>
              <a:rPr lang="en-US" sz="1700" b="1" dirty="0"/>
              <a:t>Scholar-Status Risk:</a:t>
            </a:r>
          </a:p>
          <a:p>
            <a:r>
              <a:rPr lang="en-US" sz="1700" b="1" dirty="0"/>
              <a:t>[Social Support Action]</a:t>
            </a:r>
          </a:p>
          <a:p>
            <a:r>
              <a:rPr lang="en-US" sz="1700" dirty="0"/>
              <a:t>Patients with</a:t>
            </a:r>
          </a:p>
          <a:p>
            <a:r>
              <a:rPr lang="en-US" sz="1700" dirty="0"/>
              <a:t>"Scholarship" status are </a:t>
            </a:r>
            <a:r>
              <a:rPr lang="en-US" sz="1700" b="1" dirty="0"/>
              <a:t>1.23x</a:t>
            </a:r>
            <a:r>
              <a:rPr lang="en-US" sz="1700" dirty="0"/>
              <a:t> more likely to miss appointments.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DE8CD4-3ACE-31E2-632B-0A28F549A9E1}"/>
              </a:ext>
            </a:extLst>
          </p:cNvPr>
          <p:cNvSpPr/>
          <p:nvPr/>
        </p:nvSpPr>
        <p:spPr>
          <a:xfrm>
            <a:off x="968644" y="6112677"/>
            <a:ext cx="2721600" cy="72"/>
          </a:xfrm>
          <a:prstGeom prst="rect">
            <a:avLst/>
          </a:pr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AF794147-BF9A-26C9-B78B-E37E9AFB1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shows strong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Q4 contributing nearly 40% of annual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1FA81CD-3498-88EA-3E51-551EDB8D20F3}"/>
              </a:ext>
            </a:extLst>
          </p:cNvPr>
          <p:cNvSpPr/>
          <p:nvPr/>
        </p:nvSpPr>
        <p:spPr>
          <a:xfrm>
            <a:off x="8966912" y="2351977"/>
            <a:ext cx="1257841" cy="1257841"/>
          </a:xfrm>
          <a:custGeom>
            <a:avLst/>
            <a:gdLst>
              <a:gd name="connsiteX0" fmla="*/ 0 w 1257841"/>
              <a:gd name="connsiteY0" fmla="*/ 628921 h 1257841"/>
              <a:gd name="connsiteX1" fmla="*/ 628921 w 1257841"/>
              <a:gd name="connsiteY1" fmla="*/ 0 h 1257841"/>
              <a:gd name="connsiteX2" fmla="*/ 1257842 w 1257841"/>
              <a:gd name="connsiteY2" fmla="*/ 628921 h 1257841"/>
              <a:gd name="connsiteX3" fmla="*/ 628921 w 1257841"/>
              <a:gd name="connsiteY3" fmla="*/ 1257842 h 1257841"/>
              <a:gd name="connsiteX4" fmla="*/ 0 w 1257841"/>
              <a:gd name="connsiteY4" fmla="*/ 628921 h 125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841" h="1257841">
                <a:moveTo>
                  <a:pt x="0" y="628921"/>
                </a:moveTo>
                <a:cubicBezTo>
                  <a:pt x="0" y="281578"/>
                  <a:pt x="281578" y="0"/>
                  <a:pt x="628921" y="0"/>
                </a:cubicBezTo>
                <a:cubicBezTo>
                  <a:pt x="976264" y="0"/>
                  <a:pt x="1257842" y="281578"/>
                  <a:pt x="1257842" y="628921"/>
                </a:cubicBezTo>
                <a:cubicBezTo>
                  <a:pt x="1257842" y="976264"/>
                  <a:pt x="976264" y="1257842"/>
                  <a:pt x="628921" y="1257842"/>
                </a:cubicBezTo>
                <a:cubicBezTo>
                  <a:pt x="281578" y="1257842"/>
                  <a:pt x="0" y="976264"/>
                  <a:pt x="0" y="628921"/>
                </a:cubicBez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273" tIns="196907" rIns="282273" bIns="196907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800" kern="1200" dirty="0"/>
              <a:t>6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02EF9F-A2BE-CBB1-FA23-8FF233384123}"/>
              </a:ext>
            </a:extLst>
          </p:cNvPr>
          <p:cNvSpPr/>
          <p:nvPr/>
        </p:nvSpPr>
        <p:spPr>
          <a:xfrm>
            <a:off x="5400958" y="2351976"/>
            <a:ext cx="1257841" cy="1257841"/>
          </a:xfrm>
          <a:custGeom>
            <a:avLst/>
            <a:gdLst>
              <a:gd name="connsiteX0" fmla="*/ 0 w 1257841"/>
              <a:gd name="connsiteY0" fmla="*/ 628921 h 1257841"/>
              <a:gd name="connsiteX1" fmla="*/ 628921 w 1257841"/>
              <a:gd name="connsiteY1" fmla="*/ 0 h 1257841"/>
              <a:gd name="connsiteX2" fmla="*/ 1257842 w 1257841"/>
              <a:gd name="connsiteY2" fmla="*/ 628921 h 1257841"/>
              <a:gd name="connsiteX3" fmla="*/ 628921 w 1257841"/>
              <a:gd name="connsiteY3" fmla="*/ 1257842 h 1257841"/>
              <a:gd name="connsiteX4" fmla="*/ 0 w 1257841"/>
              <a:gd name="connsiteY4" fmla="*/ 628921 h 125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841" h="1257841">
                <a:moveTo>
                  <a:pt x="0" y="628921"/>
                </a:moveTo>
                <a:cubicBezTo>
                  <a:pt x="0" y="281578"/>
                  <a:pt x="281578" y="0"/>
                  <a:pt x="628921" y="0"/>
                </a:cubicBezTo>
                <a:cubicBezTo>
                  <a:pt x="976264" y="0"/>
                  <a:pt x="1257842" y="281578"/>
                  <a:pt x="1257842" y="628921"/>
                </a:cubicBezTo>
                <a:cubicBezTo>
                  <a:pt x="1257842" y="976264"/>
                  <a:pt x="976264" y="1257842"/>
                  <a:pt x="628921" y="1257842"/>
                </a:cubicBezTo>
                <a:cubicBezTo>
                  <a:pt x="281578" y="1257842"/>
                  <a:pt x="0" y="976264"/>
                  <a:pt x="0" y="628921"/>
                </a:cubicBezTo>
                <a:close/>
              </a:path>
            </a:pathLst>
          </a:custGeom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273" tIns="196907" rIns="282273" bIns="196907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800" kern="1200" dirty="0"/>
              <a:t>5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D0DB5A3-4443-D62D-C9E9-96B3DE46FCAA}"/>
              </a:ext>
            </a:extLst>
          </p:cNvPr>
          <p:cNvSpPr/>
          <p:nvPr/>
        </p:nvSpPr>
        <p:spPr>
          <a:xfrm>
            <a:off x="1700356" y="2351975"/>
            <a:ext cx="1257841" cy="1257841"/>
          </a:xfrm>
          <a:custGeom>
            <a:avLst/>
            <a:gdLst>
              <a:gd name="connsiteX0" fmla="*/ 0 w 1257841"/>
              <a:gd name="connsiteY0" fmla="*/ 628921 h 1257841"/>
              <a:gd name="connsiteX1" fmla="*/ 628921 w 1257841"/>
              <a:gd name="connsiteY1" fmla="*/ 0 h 1257841"/>
              <a:gd name="connsiteX2" fmla="*/ 1257842 w 1257841"/>
              <a:gd name="connsiteY2" fmla="*/ 628921 h 1257841"/>
              <a:gd name="connsiteX3" fmla="*/ 628921 w 1257841"/>
              <a:gd name="connsiteY3" fmla="*/ 1257842 h 1257841"/>
              <a:gd name="connsiteX4" fmla="*/ 0 w 1257841"/>
              <a:gd name="connsiteY4" fmla="*/ 628921 h 125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841" h="1257841">
                <a:moveTo>
                  <a:pt x="0" y="628921"/>
                </a:moveTo>
                <a:cubicBezTo>
                  <a:pt x="0" y="281578"/>
                  <a:pt x="281578" y="0"/>
                  <a:pt x="628921" y="0"/>
                </a:cubicBezTo>
                <a:cubicBezTo>
                  <a:pt x="976264" y="0"/>
                  <a:pt x="1257842" y="281578"/>
                  <a:pt x="1257842" y="628921"/>
                </a:cubicBezTo>
                <a:cubicBezTo>
                  <a:pt x="1257842" y="976264"/>
                  <a:pt x="976264" y="1257842"/>
                  <a:pt x="628921" y="1257842"/>
                </a:cubicBezTo>
                <a:cubicBezTo>
                  <a:pt x="281578" y="1257842"/>
                  <a:pt x="0" y="976264"/>
                  <a:pt x="0" y="628921"/>
                </a:cubicBezTo>
                <a:close/>
              </a:path>
            </a:pathLst>
          </a:cu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273" tIns="196907" rIns="282273" bIns="196907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800" kern="1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897173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1D7C6-B6BA-EB2B-CA77-4F8A2B94E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46F82-17B1-F483-5E9B-8B7439C1F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D29D5A6-CFB7-5A54-481E-5FD951887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FADD24-A410-9614-F885-A3C5946B3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DD8522-2865-B14A-F4F1-FB8A64879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E8CE0C-682F-ED01-C89E-CC0A11861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43F104-AD2C-B55E-F926-832D8068D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9CA605F-F5F0-C315-7E99-F43DBFE54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66D4CEB-CA9B-9243-FE06-6DAE756A8CB9}"/>
              </a:ext>
            </a:extLst>
          </p:cNvPr>
          <p:cNvSpPr txBox="1">
            <a:spLocks/>
          </p:cNvSpPr>
          <p:nvPr/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FFFFFF"/>
                </a:solidFill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7941558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8060-C611-CAAD-5196-7427CB465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E288F-1749-2631-30C3-DB7FA8CF5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B83EB5A2-96EC-75CE-2A39-AEB47D06A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DD4DCF-2838-5057-A994-AD52A9683106}"/>
              </a:ext>
            </a:extLst>
          </p:cNvPr>
          <p:cNvSpPr txBox="1">
            <a:spLocks/>
          </p:cNvSpPr>
          <p:nvPr/>
        </p:nvSpPr>
        <p:spPr>
          <a:xfrm>
            <a:off x="967639" y="288320"/>
            <a:ext cx="76606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Recommendations Summary</a:t>
            </a: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AF51FED8-35EC-BD04-9986-FFF7FB258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1830AFE-EF95-5912-8670-F515BBC86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8997976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distribution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similar for both groups, but overall usage is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male-dominated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8CBBDF-19F0-20F8-6C60-BA525139BE53}"/>
              </a:ext>
            </a:extLst>
          </p:cNvPr>
          <p:cNvSpPr/>
          <p:nvPr/>
        </p:nvSpPr>
        <p:spPr>
          <a:xfrm>
            <a:off x="8177818" y="6112749"/>
            <a:ext cx="2804400" cy="72"/>
          </a:xfrm>
          <a:prstGeom prst="rect">
            <a:avLst/>
          </a:pr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981A22-A1DF-19CD-FE83-98A56DE90451}"/>
              </a:ext>
            </a:extLst>
          </p:cNvPr>
          <p:cNvSpPr/>
          <p:nvPr/>
        </p:nvSpPr>
        <p:spPr>
          <a:xfrm>
            <a:off x="4561206" y="6105769"/>
            <a:ext cx="2700000" cy="72"/>
          </a:xfrm>
          <a:prstGeom prst="rect">
            <a:avLst/>
          </a:prstGeom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352BEC7-3B14-F897-2A9E-6AAB6AB805A4}"/>
              </a:ext>
            </a:extLst>
          </p:cNvPr>
          <p:cNvSpPr/>
          <p:nvPr/>
        </p:nvSpPr>
        <p:spPr>
          <a:xfrm>
            <a:off x="968644" y="2106869"/>
            <a:ext cx="2468595" cy="3998900"/>
          </a:xfrm>
          <a:custGeom>
            <a:avLst/>
            <a:gdLst>
              <a:gd name="connsiteX0" fmla="*/ 0 w 3414946"/>
              <a:gd name="connsiteY0" fmla="*/ 0 h 4192805"/>
              <a:gd name="connsiteX1" fmla="*/ 3414946 w 3414946"/>
              <a:gd name="connsiteY1" fmla="*/ 0 h 4192805"/>
              <a:gd name="connsiteX2" fmla="*/ 3414946 w 3414946"/>
              <a:gd name="connsiteY2" fmla="*/ 4192805 h 4192805"/>
              <a:gd name="connsiteX3" fmla="*/ 0 w 3414946"/>
              <a:gd name="connsiteY3" fmla="*/ 4192805 h 4192805"/>
              <a:gd name="connsiteX4" fmla="*/ 0 w 3414946"/>
              <a:gd name="connsiteY4" fmla="*/ 0 h 419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4946" h="4192805">
                <a:moveTo>
                  <a:pt x="0" y="0"/>
                </a:moveTo>
                <a:lnTo>
                  <a:pt x="3414946" y="0"/>
                </a:lnTo>
                <a:lnTo>
                  <a:pt x="3414946" y="4192805"/>
                </a:lnTo>
                <a:lnTo>
                  <a:pt x="0" y="41928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243" tIns="1923465" rIns="266243" bIns="414057" numCol="1" spcCol="1270" anchor="t" anchorCtr="0">
            <a:noAutofit/>
          </a:bodyPr>
          <a:lstStyle/>
          <a:p>
            <a:pPr algn="ctr"/>
            <a:r>
              <a:rPr lang="en-US" sz="1700" dirty="0"/>
              <a:t>Implement an</a:t>
            </a:r>
          </a:p>
          <a:p>
            <a:pPr algn="ctr"/>
            <a:r>
              <a:rPr lang="en-US" sz="1700" dirty="0"/>
              <a:t>automated</a:t>
            </a:r>
          </a:p>
          <a:p>
            <a:pPr algn="ctr"/>
            <a:r>
              <a:rPr lang="en-US" sz="1700" dirty="0"/>
              <a:t>"Confirmation Call“</a:t>
            </a:r>
          </a:p>
          <a:p>
            <a:pPr algn="ctr"/>
            <a:r>
              <a:rPr lang="en-US" sz="1700" dirty="0"/>
              <a:t>for any appointment booked more than 1 week in advance.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BDB9242-D005-909A-E668-BE5840EF4A68}"/>
              </a:ext>
            </a:extLst>
          </p:cNvPr>
          <p:cNvSpPr/>
          <p:nvPr/>
        </p:nvSpPr>
        <p:spPr>
          <a:xfrm>
            <a:off x="4561206" y="2106796"/>
            <a:ext cx="2701560" cy="3998972"/>
          </a:xfrm>
          <a:custGeom>
            <a:avLst/>
            <a:gdLst>
              <a:gd name="connsiteX0" fmla="*/ 0 w 3414946"/>
              <a:gd name="connsiteY0" fmla="*/ 0 h 4192805"/>
              <a:gd name="connsiteX1" fmla="*/ 3414946 w 3414946"/>
              <a:gd name="connsiteY1" fmla="*/ 0 h 4192805"/>
              <a:gd name="connsiteX2" fmla="*/ 3414946 w 3414946"/>
              <a:gd name="connsiteY2" fmla="*/ 4192805 h 4192805"/>
              <a:gd name="connsiteX3" fmla="*/ 0 w 3414946"/>
              <a:gd name="connsiteY3" fmla="*/ 4192805 h 4192805"/>
              <a:gd name="connsiteX4" fmla="*/ 0 w 3414946"/>
              <a:gd name="connsiteY4" fmla="*/ 0 h 419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4946" h="4192805">
                <a:moveTo>
                  <a:pt x="0" y="0"/>
                </a:moveTo>
                <a:lnTo>
                  <a:pt x="3414946" y="0"/>
                </a:lnTo>
                <a:lnTo>
                  <a:pt x="3414946" y="4192805"/>
                </a:lnTo>
                <a:lnTo>
                  <a:pt x="0" y="419280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5000"/>
              <a:lumOff val="75000"/>
              <a:alpha val="90000"/>
            </a:schemeClr>
          </a:solidFill>
        </p:spPr>
        <p:style>
          <a:lnRef idx="2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243" tIns="1923465" rIns="266243" bIns="414057" numCol="1" spcCol="1270" anchor="t" anchorCtr="0">
            <a:noAutofit/>
          </a:bodyPr>
          <a:lstStyle/>
          <a:p>
            <a:pPr algn="ctr"/>
            <a:r>
              <a:rPr lang="en-US" sz="1700" dirty="0"/>
              <a:t>Expand SMS</a:t>
            </a:r>
          </a:p>
          <a:p>
            <a:pPr algn="ctr"/>
            <a:r>
              <a:rPr lang="en-US" sz="1700" dirty="0"/>
              <a:t>coverage to 100% of</a:t>
            </a:r>
          </a:p>
          <a:p>
            <a:pPr algn="ctr"/>
            <a:r>
              <a:rPr lang="en-US" sz="1700" dirty="0"/>
              <a:t>patients; historical</a:t>
            </a:r>
          </a:p>
          <a:p>
            <a:pPr algn="ctr"/>
            <a:r>
              <a:rPr lang="en-US" sz="1700" dirty="0"/>
              <a:t>data shows a</a:t>
            </a:r>
          </a:p>
          <a:p>
            <a:pPr algn="ctr"/>
            <a:r>
              <a:rPr lang="en-US" sz="1700" dirty="0"/>
              <a:t>significant drop in</a:t>
            </a:r>
          </a:p>
          <a:p>
            <a:pPr algn="ctr"/>
            <a:r>
              <a:rPr lang="en-US" sz="1700" dirty="0"/>
              <a:t>missed appointments when reminders are</a:t>
            </a:r>
          </a:p>
          <a:p>
            <a:pPr algn="ctr"/>
            <a:r>
              <a:rPr lang="en-US" sz="1700" dirty="0"/>
              <a:t>received.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0B8FCD-07FE-AB40-58B1-02A02DF8A273}"/>
              </a:ext>
            </a:extLst>
          </p:cNvPr>
          <p:cNvSpPr/>
          <p:nvPr/>
        </p:nvSpPr>
        <p:spPr>
          <a:xfrm>
            <a:off x="8176325" y="2113077"/>
            <a:ext cx="2805893" cy="3999600"/>
          </a:xfrm>
          <a:custGeom>
            <a:avLst/>
            <a:gdLst>
              <a:gd name="connsiteX0" fmla="*/ 0 w 3414946"/>
              <a:gd name="connsiteY0" fmla="*/ 0 h 4192805"/>
              <a:gd name="connsiteX1" fmla="*/ 3414946 w 3414946"/>
              <a:gd name="connsiteY1" fmla="*/ 0 h 4192805"/>
              <a:gd name="connsiteX2" fmla="*/ 3414946 w 3414946"/>
              <a:gd name="connsiteY2" fmla="*/ 4192805 h 4192805"/>
              <a:gd name="connsiteX3" fmla="*/ 0 w 3414946"/>
              <a:gd name="connsiteY3" fmla="*/ 4192805 h 4192805"/>
              <a:gd name="connsiteX4" fmla="*/ 0 w 3414946"/>
              <a:gd name="connsiteY4" fmla="*/ 0 h 419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4946" h="4192805">
                <a:moveTo>
                  <a:pt x="0" y="0"/>
                </a:moveTo>
                <a:lnTo>
                  <a:pt x="3414946" y="0"/>
                </a:lnTo>
                <a:lnTo>
                  <a:pt x="3414946" y="4192805"/>
                </a:lnTo>
                <a:lnTo>
                  <a:pt x="0" y="41928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  <a:alpha val="90000"/>
            </a:schemeClr>
          </a:solidFill>
        </p:spPr>
        <p:style>
          <a:lnRef idx="2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243" tIns="1923465" rIns="266243" bIns="414057" numCol="1" spcCol="1270" anchor="t" anchorCtr="0">
            <a:noAutofit/>
          </a:bodyPr>
          <a:lstStyle/>
          <a:p>
            <a:pPr algn="ctr"/>
            <a:r>
              <a:rPr lang="en-US" sz="1700" dirty="0"/>
              <a:t>Consider a "Friday</a:t>
            </a:r>
          </a:p>
          <a:p>
            <a:pPr algn="ctr"/>
            <a:r>
              <a:rPr lang="en-US" sz="1700" dirty="0"/>
              <a:t>Overbooking“strategy</a:t>
            </a:r>
          </a:p>
          <a:p>
            <a:pPr algn="ctr"/>
            <a:r>
              <a:rPr lang="en-US" sz="1700" dirty="0"/>
              <a:t>(5-10%) or moving</a:t>
            </a:r>
          </a:p>
          <a:p>
            <a:pPr algn="ctr"/>
            <a:r>
              <a:rPr lang="en-US" sz="1700" dirty="0"/>
              <a:t>staff meetings to Friday afternoons to maximize resource utility.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D9CCB1-6CB8-9F92-9CF3-E47E11D14DF7}"/>
              </a:ext>
            </a:extLst>
          </p:cNvPr>
          <p:cNvSpPr/>
          <p:nvPr/>
        </p:nvSpPr>
        <p:spPr>
          <a:xfrm>
            <a:off x="967639" y="6112677"/>
            <a:ext cx="2469600" cy="72"/>
          </a:xfrm>
          <a:prstGeom prst="rect">
            <a:avLst/>
          </a:pr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CE791DC8-08F3-34B8-83E2-36A02F1FC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shows strong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Q4 contributing nearly 40% of annual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D907357-82EC-AE5B-56B8-D0F2814A1C29}"/>
              </a:ext>
            </a:extLst>
          </p:cNvPr>
          <p:cNvSpPr/>
          <p:nvPr/>
        </p:nvSpPr>
        <p:spPr>
          <a:xfrm>
            <a:off x="1573518" y="2351830"/>
            <a:ext cx="1257841" cy="1257841"/>
          </a:xfrm>
          <a:custGeom>
            <a:avLst/>
            <a:gdLst>
              <a:gd name="connsiteX0" fmla="*/ 0 w 1257841"/>
              <a:gd name="connsiteY0" fmla="*/ 628921 h 1257841"/>
              <a:gd name="connsiteX1" fmla="*/ 628921 w 1257841"/>
              <a:gd name="connsiteY1" fmla="*/ 0 h 1257841"/>
              <a:gd name="connsiteX2" fmla="*/ 1257842 w 1257841"/>
              <a:gd name="connsiteY2" fmla="*/ 628921 h 1257841"/>
              <a:gd name="connsiteX3" fmla="*/ 628921 w 1257841"/>
              <a:gd name="connsiteY3" fmla="*/ 1257842 h 1257841"/>
              <a:gd name="connsiteX4" fmla="*/ 0 w 1257841"/>
              <a:gd name="connsiteY4" fmla="*/ 628921 h 125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841" h="1257841">
                <a:moveTo>
                  <a:pt x="0" y="628921"/>
                </a:moveTo>
                <a:cubicBezTo>
                  <a:pt x="0" y="281578"/>
                  <a:pt x="281578" y="0"/>
                  <a:pt x="628921" y="0"/>
                </a:cubicBezTo>
                <a:cubicBezTo>
                  <a:pt x="976264" y="0"/>
                  <a:pt x="1257842" y="281578"/>
                  <a:pt x="1257842" y="628921"/>
                </a:cubicBezTo>
                <a:cubicBezTo>
                  <a:pt x="1257842" y="976264"/>
                  <a:pt x="976264" y="1257842"/>
                  <a:pt x="628921" y="1257842"/>
                </a:cubicBezTo>
                <a:cubicBezTo>
                  <a:pt x="281578" y="1257842"/>
                  <a:pt x="0" y="976264"/>
                  <a:pt x="0" y="628921"/>
                </a:cubicBezTo>
                <a:close/>
              </a:path>
            </a:pathLst>
          </a:cu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273" tIns="196907" rIns="282273" bIns="196907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800" kern="1200" dirty="0"/>
              <a:t>1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B1810D0-70EE-C4F1-C6EE-32BC86D8EEA0}"/>
              </a:ext>
            </a:extLst>
          </p:cNvPr>
          <p:cNvSpPr/>
          <p:nvPr/>
        </p:nvSpPr>
        <p:spPr>
          <a:xfrm>
            <a:off x="5282285" y="2351829"/>
            <a:ext cx="1257841" cy="1257841"/>
          </a:xfrm>
          <a:custGeom>
            <a:avLst/>
            <a:gdLst>
              <a:gd name="connsiteX0" fmla="*/ 0 w 1257841"/>
              <a:gd name="connsiteY0" fmla="*/ 628921 h 1257841"/>
              <a:gd name="connsiteX1" fmla="*/ 628921 w 1257841"/>
              <a:gd name="connsiteY1" fmla="*/ 0 h 1257841"/>
              <a:gd name="connsiteX2" fmla="*/ 1257842 w 1257841"/>
              <a:gd name="connsiteY2" fmla="*/ 628921 h 1257841"/>
              <a:gd name="connsiteX3" fmla="*/ 628921 w 1257841"/>
              <a:gd name="connsiteY3" fmla="*/ 1257842 h 1257841"/>
              <a:gd name="connsiteX4" fmla="*/ 0 w 1257841"/>
              <a:gd name="connsiteY4" fmla="*/ 628921 h 125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841" h="1257841">
                <a:moveTo>
                  <a:pt x="0" y="628921"/>
                </a:moveTo>
                <a:cubicBezTo>
                  <a:pt x="0" y="281578"/>
                  <a:pt x="281578" y="0"/>
                  <a:pt x="628921" y="0"/>
                </a:cubicBezTo>
                <a:cubicBezTo>
                  <a:pt x="976264" y="0"/>
                  <a:pt x="1257842" y="281578"/>
                  <a:pt x="1257842" y="628921"/>
                </a:cubicBezTo>
                <a:cubicBezTo>
                  <a:pt x="1257842" y="976264"/>
                  <a:pt x="976264" y="1257842"/>
                  <a:pt x="628921" y="1257842"/>
                </a:cubicBezTo>
                <a:cubicBezTo>
                  <a:pt x="281578" y="1257842"/>
                  <a:pt x="0" y="976264"/>
                  <a:pt x="0" y="628921"/>
                </a:cubicBezTo>
                <a:close/>
              </a:path>
            </a:pathLst>
          </a:custGeom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273" tIns="196907" rIns="282273" bIns="196907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800" kern="1200"/>
              <a:t>2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E2A6796-3F98-DF94-69AD-4E7BF8DB6C9D}"/>
              </a:ext>
            </a:extLst>
          </p:cNvPr>
          <p:cNvSpPr/>
          <p:nvPr/>
        </p:nvSpPr>
        <p:spPr>
          <a:xfrm>
            <a:off x="8950350" y="2351829"/>
            <a:ext cx="1257841" cy="1257841"/>
          </a:xfrm>
          <a:custGeom>
            <a:avLst/>
            <a:gdLst>
              <a:gd name="connsiteX0" fmla="*/ 0 w 1257841"/>
              <a:gd name="connsiteY0" fmla="*/ 628921 h 1257841"/>
              <a:gd name="connsiteX1" fmla="*/ 628921 w 1257841"/>
              <a:gd name="connsiteY1" fmla="*/ 0 h 1257841"/>
              <a:gd name="connsiteX2" fmla="*/ 1257842 w 1257841"/>
              <a:gd name="connsiteY2" fmla="*/ 628921 h 1257841"/>
              <a:gd name="connsiteX3" fmla="*/ 628921 w 1257841"/>
              <a:gd name="connsiteY3" fmla="*/ 1257842 h 1257841"/>
              <a:gd name="connsiteX4" fmla="*/ 0 w 1257841"/>
              <a:gd name="connsiteY4" fmla="*/ 628921 h 125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841" h="1257841">
                <a:moveTo>
                  <a:pt x="0" y="628921"/>
                </a:moveTo>
                <a:cubicBezTo>
                  <a:pt x="0" y="281578"/>
                  <a:pt x="281578" y="0"/>
                  <a:pt x="628921" y="0"/>
                </a:cubicBezTo>
                <a:cubicBezTo>
                  <a:pt x="976264" y="0"/>
                  <a:pt x="1257842" y="281578"/>
                  <a:pt x="1257842" y="628921"/>
                </a:cubicBezTo>
                <a:cubicBezTo>
                  <a:pt x="1257842" y="976264"/>
                  <a:pt x="976264" y="1257842"/>
                  <a:pt x="628921" y="1257842"/>
                </a:cubicBezTo>
                <a:cubicBezTo>
                  <a:pt x="281578" y="1257842"/>
                  <a:pt x="0" y="976264"/>
                  <a:pt x="0" y="628921"/>
                </a:cubicBez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273" tIns="196907" rIns="282273" bIns="196907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800" kern="1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053585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0FD95-B5D5-F388-6B67-D6ACDB751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71C4BC7-EA4B-A2D7-E2F6-7BF0CF7A6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ketch line">
            <a:extLst>
              <a:ext uri="{FF2B5EF4-FFF2-40B4-BE49-F238E27FC236}">
                <a16:creationId xmlns:a16="http://schemas.microsoft.com/office/drawing/2014/main" id="{2515D760-37EB-2FC6-2AC3-EF8C0ED9F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7AAD8F-9DAA-C582-AD0D-EF14C4D09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8997976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distribution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similar for both groups, but overall usage is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male-dominated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00DBAB-0873-AA9D-DA98-F5D926DB2DFF}"/>
              </a:ext>
            </a:extLst>
          </p:cNvPr>
          <p:cNvSpPr/>
          <p:nvPr/>
        </p:nvSpPr>
        <p:spPr>
          <a:xfrm>
            <a:off x="8153768" y="6112677"/>
            <a:ext cx="3103200" cy="72"/>
          </a:xfrm>
          <a:prstGeom prst="rect">
            <a:avLst/>
          </a:pr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B2B5D4-D1BD-FB2F-D963-44A0FAA4F903}"/>
              </a:ext>
            </a:extLst>
          </p:cNvPr>
          <p:cNvSpPr/>
          <p:nvPr/>
        </p:nvSpPr>
        <p:spPr>
          <a:xfrm>
            <a:off x="4561834" y="6113312"/>
            <a:ext cx="2563200" cy="72"/>
          </a:xfrm>
          <a:prstGeom prst="rect">
            <a:avLst/>
          </a:prstGeom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B78322-15C7-04A5-4018-70422C39D15B}"/>
              </a:ext>
            </a:extLst>
          </p:cNvPr>
          <p:cNvSpPr/>
          <p:nvPr/>
        </p:nvSpPr>
        <p:spPr>
          <a:xfrm>
            <a:off x="968644" y="2106869"/>
            <a:ext cx="2563828" cy="3998900"/>
          </a:xfrm>
          <a:custGeom>
            <a:avLst/>
            <a:gdLst>
              <a:gd name="connsiteX0" fmla="*/ 0 w 3414946"/>
              <a:gd name="connsiteY0" fmla="*/ 0 h 4192805"/>
              <a:gd name="connsiteX1" fmla="*/ 3414946 w 3414946"/>
              <a:gd name="connsiteY1" fmla="*/ 0 h 4192805"/>
              <a:gd name="connsiteX2" fmla="*/ 3414946 w 3414946"/>
              <a:gd name="connsiteY2" fmla="*/ 4192805 h 4192805"/>
              <a:gd name="connsiteX3" fmla="*/ 0 w 3414946"/>
              <a:gd name="connsiteY3" fmla="*/ 4192805 h 4192805"/>
              <a:gd name="connsiteX4" fmla="*/ 0 w 3414946"/>
              <a:gd name="connsiteY4" fmla="*/ 0 h 419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4946" h="4192805">
                <a:moveTo>
                  <a:pt x="0" y="0"/>
                </a:moveTo>
                <a:lnTo>
                  <a:pt x="3414946" y="0"/>
                </a:lnTo>
                <a:lnTo>
                  <a:pt x="3414946" y="4192805"/>
                </a:lnTo>
                <a:lnTo>
                  <a:pt x="0" y="41928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243" tIns="1923465" rIns="266243" bIns="414057" numCol="1" spcCol="1270" anchor="t" anchorCtr="0">
            <a:noAutofit/>
          </a:bodyPr>
          <a:lstStyle/>
          <a:p>
            <a:pPr algn="ctr"/>
            <a:r>
              <a:rPr lang="en-US" sz="1700" dirty="0"/>
              <a:t>Launch a pilot "Direct Outreach" program</a:t>
            </a:r>
          </a:p>
          <a:p>
            <a:pPr algn="ctr"/>
            <a:r>
              <a:rPr lang="en-US" sz="1700" dirty="0"/>
              <a:t>at this location to</a:t>
            </a:r>
          </a:p>
          <a:p>
            <a:pPr algn="ctr"/>
            <a:r>
              <a:rPr lang="en-US" sz="1700" dirty="0"/>
              <a:t>identify local barriers (e.g., transportation</a:t>
            </a:r>
          </a:p>
          <a:p>
            <a:pPr algn="ctr"/>
            <a:r>
              <a:rPr lang="en-US" sz="1700" dirty="0"/>
              <a:t>or access).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FF2C47-5DA2-3744-89DD-164813DC6461}"/>
              </a:ext>
            </a:extLst>
          </p:cNvPr>
          <p:cNvGrpSpPr/>
          <p:nvPr/>
        </p:nvGrpSpPr>
        <p:grpSpPr>
          <a:xfrm>
            <a:off x="4561206" y="2106797"/>
            <a:ext cx="2563828" cy="3998972"/>
            <a:chOff x="3431390" y="2112507"/>
            <a:chExt cx="2563828" cy="3998972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F3CFF7D-40E0-4572-5721-4911BEFD59E4}"/>
                </a:ext>
              </a:extLst>
            </p:cNvPr>
            <p:cNvSpPr/>
            <p:nvPr/>
          </p:nvSpPr>
          <p:spPr>
            <a:xfrm>
              <a:off x="3431390" y="2112507"/>
              <a:ext cx="2563828" cy="3998972"/>
            </a:xfrm>
            <a:custGeom>
              <a:avLst/>
              <a:gdLst>
                <a:gd name="connsiteX0" fmla="*/ 0 w 3414946"/>
                <a:gd name="connsiteY0" fmla="*/ 0 h 4192805"/>
                <a:gd name="connsiteX1" fmla="*/ 3414946 w 3414946"/>
                <a:gd name="connsiteY1" fmla="*/ 0 h 4192805"/>
                <a:gd name="connsiteX2" fmla="*/ 3414946 w 3414946"/>
                <a:gd name="connsiteY2" fmla="*/ 4192805 h 4192805"/>
                <a:gd name="connsiteX3" fmla="*/ 0 w 3414946"/>
                <a:gd name="connsiteY3" fmla="*/ 4192805 h 4192805"/>
                <a:gd name="connsiteX4" fmla="*/ 0 w 3414946"/>
                <a:gd name="connsiteY4" fmla="*/ 0 h 419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4946" h="4192805">
                  <a:moveTo>
                    <a:pt x="0" y="0"/>
                  </a:moveTo>
                  <a:lnTo>
                    <a:pt x="3414946" y="0"/>
                  </a:lnTo>
                  <a:lnTo>
                    <a:pt x="3414946" y="4192805"/>
                  </a:lnTo>
                  <a:lnTo>
                    <a:pt x="0" y="41928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  <a:alpha val="90000"/>
              </a:schemeClr>
            </a:solidFill>
          </p:spPr>
          <p:style>
            <a:lnRef idx="2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6243" tIns="1923465" rIns="266243" bIns="414057" numCol="1" spcCol="1270" anchor="t" anchorCtr="0">
              <a:noAutofit/>
            </a:bodyPr>
            <a:lstStyle/>
            <a:p>
              <a:pPr algn="ctr"/>
              <a:r>
                <a:rPr lang="en-US" sz="1700" dirty="0"/>
                <a:t>Prioritize these</a:t>
              </a:r>
            </a:p>
            <a:p>
              <a:pPr algn="ctr"/>
              <a:r>
                <a:rPr lang="en-US" sz="1700" dirty="0"/>
                <a:t>patients for high-value specialist slots to ensure maximum</a:t>
              </a:r>
            </a:p>
            <a:p>
              <a:pPr algn="ctr"/>
              <a:r>
                <a:rPr lang="en-US" sz="1700" dirty="0"/>
                <a:t>revenue stability.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17EC21D-5350-990E-042D-F37E37CAC259}"/>
                </a:ext>
              </a:extLst>
            </p:cNvPr>
            <p:cNvSpPr/>
            <p:nvPr/>
          </p:nvSpPr>
          <p:spPr>
            <a:xfrm>
              <a:off x="4036766" y="2350635"/>
              <a:ext cx="1257841" cy="1257841"/>
            </a:xfrm>
            <a:custGeom>
              <a:avLst/>
              <a:gdLst>
                <a:gd name="connsiteX0" fmla="*/ 0 w 1257841"/>
                <a:gd name="connsiteY0" fmla="*/ 628921 h 1257841"/>
                <a:gd name="connsiteX1" fmla="*/ 628921 w 1257841"/>
                <a:gd name="connsiteY1" fmla="*/ 0 h 1257841"/>
                <a:gd name="connsiteX2" fmla="*/ 1257842 w 1257841"/>
                <a:gd name="connsiteY2" fmla="*/ 628921 h 1257841"/>
                <a:gd name="connsiteX3" fmla="*/ 628921 w 1257841"/>
                <a:gd name="connsiteY3" fmla="*/ 1257842 h 1257841"/>
                <a:gd name="connsiteX4" fmla="*/ 0 w 1257841"/>
                <a:gd name="connsiteY4" fmla="*/ 628921 h 1257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7841" h="1257841">
                  <a:moveTo>
                    <a:pt x="0" y="628921"/>
                  </a:moveTo>
                  <a:cubicBezTo>
                    <a:pt x="0" y="281578"/>
                    <a:pt x="281578" y="0"/>
                    <a:pt x="628921" y="0"/>
                  </a:cubicBezTo>
                  <a:cubicBezTo>
                    <a:pt x="976264" y="0"/>
                    <a:pt x="1257842" y="281578"/>
                    <a:pt x="1257842" y="628921"/>
                  </a:cubicBezTo>
                  <a:cubicBezTo>
                    <a:pt x="1257842" y="976264"/>
                    <a:pt x="976264" y="1257842"/>
                    <a:pt x="628921" y="1257842"/>
                  </a:cubicBezTo>
                  <a:cubicBezTo>
                    <a:pt x="281578" y="1257842"/>
                    <a:pt x="0" y="976264"/>
                    <a:pt x="0" y="628921"/>
                  </a:cubicBezTo>
                  <a:close/>
                </a:path>
              </a:pathLst>
            </a:custGeom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2273" tIns="196907" rIns="282273" bIns="19690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 dirty="0"/>
                <a:t>5</a:t>
              </a: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6F76EBB-66C2-D480-F320-881B59CC144D}"/>
              </a:ext>
            </a:extLst>
          </p:cNvPr>
          <p:cNvSpPr/>
          <p:nvPr/>
        </p:nvSpPr>
        <p:spPr>
          <a:xfrm>
            <a:off x="8153768" y="2106169"/>
            <a:ext cx="3103794" cy="3999600"/>
          </a:xfrm>
          <a:custGeom>
            <a:avLst/>
            <a:gdLst>
              <a:gd name="connsiteX0" fmla="*/ 0 w 3414946"/>
              <a:gd name="connsiteY0" fmla="*/ 0 h 4192805"/>
              <a:gd name="connsiteX1" fmla="*/ 3414946 w 3414946"/>
              <a:gd name="connsiteY1" fmla="*/ 0 h 4192805"/>
              <a:gd name="connsiteX2" fmla="*/ 3414946 w 3414946"/>
              <a:gd name="connsiteY2" fmla="*/ 4192805 h 4192805"/>
              <a:gd name="connsiteX3" fmla="*/ 0 w 3414946"/>
              <a:gd name="connsiteY3" fmla="*/ 4192805 h 4192805"/>
              <a:gd name="connsiteX4" fmla="*/ 0 w 3414946"/>
              <a:gd name="connsiteY4" fmla="*/ 0 h 419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4946" h="4192805">
                <a:moveTo>
                  <a:pt x="0" y="0"/>
                </a:moveTo>
                <a:lnTo>
                  <a:pt x="3414946" y="0"/>
                </a:lnTo>
                <a:lnTo>
                  <a:pt x="3414946" y="4192805"/>
                </a:lnTo>
                <a:lnTo>
                  <a:pt x="0" y="41928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  <a:alpha val="90000"/>
            </a:schemeClr>
          </a:solidFill>
        </p:spPr>
        <p:style>
          <a:lnRef idx="2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243" tIns="1923465" rIns="266243" bIns="414057" numCol="1" spcCol="1270" anchor="t" anchorCtr="0">
            <a:noAutofit/>
          </a:bodyPr>
          <a:lstStyle/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700" dirty="0"/>
              <a:t>Investigate if transportation vouchers or community health worker follow-ups can remove barriers for this specific socio-economic group.</a:t>
            </a:r>
            <a:endParaRPr lang="en-US" sz="1700" kern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E95E92-B0EE-3D0D-2EB9-78C0EC4349D7}"/>
              </a:ext>
            </a:extLst>
          </p:cNvPr>
          <p:cNvSpPr/>
          <p:nvPr/>
        </p:nvSpPr>
        <p:spPr>
          <a:xfrm>
            <a:off x="967639" y="6112677"/>
            <a:ext cx="2563200" cy="72"/>
          </a:xfrm>
          <a:prstGeom prst="rect">
            <a:avLst/>
          </a:pr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70EC87B-6EFF-EDF3-CB7F-24CAC3BE6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shows strong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Q4 contributing nearly 40% of annual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A9F79FC-BF3D-A459-A418-6C572A8C0249}"/>
              </a:ext>
            </a:extLst>
          </p:cNvPr>
          <p:cNvSpPr txBox="1">
            <a:spLocks/>
          </p:cNvSpPr>
          <p:nvPr/>
        </p:nvSpPr>
        <p:spPr>
          <a:xfrm>
            <a:off x="967639" y="288320"/>
            <a:ext cx="76606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Recommendations Summary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55DC141-033F-BAB7-D90D-03CED1B98DE6}"/>
              </a:ext>
            </a:extLst>
          </p:cNvPr>
          <p:cNvSpPr/>
          <p:nvPr/>
        </p:nvSpPr>
        <p:spPr>
          <a:xfrm>
            <a:off x="1620318" y="2347078"/>
            <a:ext cx="1257841" cy="1257841"/>
          </a:xfrm>
          <a:custGeom>
            <a:avLst/>
            <a:gdLst>
              <a:gd name="connsiteX0" fmla="*/ 0 w 1257841"/>
              <a:gd name="connsiteY0" fmla="*/ 628921 h 1257841"/>
              <a:gd name="connsiteX1" fmla="*/ 628921 w 1257841"/>
              <a:gd name="connsiteY1" fmla="*/ 0 h 1257841"/>
              <a:gd name="connsiteX2" fmla="*/ 1257842 w 1257841"/>
              <a:gd name="connsiteY2" fmla="*/ 628921 h 1257841"/>
              <a:gd name="connsiteX3" fmla="*/ 628921 w 1257841"/>
              <a:gd name="connsiteY3" fmla="*/ 1257842 h 1257841"/>
              <a:gd name="connsiteX4" fmla="*/ 0 w 1257841"/>
              <a:gd name="connsiteY4" fmla="*/ 628921 h 125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841" h="1257841">
                <a:moveTo>
                  <a:pt x="0" y="628921"/>
                </a:moveTo>
                <a:cubicBezTo>
                  <a:pt x="0" y="281578"/>
                  <a:pt x="281578" y="0"/>
                  <a:pt x="628921" y="0"/>
                </a:cubicBezTo>
                <a:cubicBezTo>
                  <a:pt x="976264" y="0"/>
                  <a:pt x="1257842" y="281578"/>
                  <a:pt x="1257842" y="628921"/>
                </a:cubicBezTo>
                <a:cubicBezTo>
                  <a:pt x="1257842" y="976264"/>
                  <a:pt x="976264" y="1257842"/>
                  <a:pt x="628921" y="1257842"/>
                </a:cubicBezTo>
                <a:cubicBezTo>
                  <a:pt x="281578" y="1257842"/>
                  <a:pt x="0" y="976264"/>
                  <a:pt x="0" y="628921"/>
                </a:cubicBezTo>
                <a:close/>
              </a:path>
            </a:pathLst>
          </a:cu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273" tIns="196907" rIns="282273" bIns="196907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800" kern="1200" dirty="0"/>
              <a:t>4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A4A1038-CFAD-D954-8A4D-E9954070ACBD}"/>
              </a:ext>
            </a:extLst>
          </p:cNvPr>
          <p:cNvSpPr/>
          <p:nvPr/>
        </p:nvSpPr>
        <p:spPr>
          <a:xfrm>
            <a:off x="9076447" y="2344925"/>
            <a:ext cx="1257841" cy="1257841"/>
          </a:xfrm>
          <a:custGeom>
            <a:avLst/>
            <a:gdLst>
              <a:gd name="connsiteX0" fmla="*/ 0 w 1257841"/>
              <a:gd name="connsiteY0" fmla="*/ 628921 h 1257841"/>
              <a:gd name="connsiteX1" fmla="*/ 628921 w 1257841"/>
              <a:gd name="connsiteY1" fmla="*/ 0 h 1257841"/>
              <a:gd name="connsiteX2" fmla="*/ 1257842 w 1257841"/>
              <a:gd name="connsiteY2" fmla="*/ 628921 h 1257841"/>
              <a:gd name="connsiteX3" fmla="*/ 628921 w 1257841"/>
              <a:gd name="connsiteY3" fmla="*/ 1257842 h 1257841"/>
              <a:gd name="connsiteX4" fmla="*/ 0 w 1257841"/>
              <a:gd name="connsiteY4" fmla="*/ 628921 h 125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841" h="1257841">
                <a:moveTo>
                  <a:pt x="0" y="628921"/>
                </a:moveTo>
                <a:cubicBezTo>
                  <a:pt x="0" y="281578"/>
                  <a:pt x="281578" y="0"/>
                  <a:pt x="628921" y="0"/>
                </a:cubicBezTo>
                <a:cubicBezTo>
                  <a:pt x="976264" y="0"/>
                  <a:pt x="1257842" y="281578"/>
                  <a:pt x="1257842" y="628921"/>
                </a:cubicBezTo>
                <a:cubicBezTo>
                  <a:pt x="1257842" y="976264"/>
                  <a:pt x="976264" y="1257842"/>
                  <a:pt x="628921" y="1257842"/>
                </a:cubicBezTo>
                <a:cubicBezTo>
                  <a:pt x="281578" y="1257842"/>
                  <a:pt x="0" y="976264"/>
                  <a:pt x="0" y="628921"/>
                </a:cubicBez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273" tIns="196907" rIns="282273" bIns="196907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800" kern="1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211846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Triangle 57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F801FA-F8F5-24E5-48ED-3F9789D6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260" y="1188637"/>
            <a:ext cx="5852711" cy="15972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28" name="Graphic 27" descr="Handshake">
            <a:extLst>
              <a:ext uri="{FF2B5EF4-FFF2-40B4-BE49-F238E27FC236}">
                <a16:creationId xmlns:a16="http://schemas.microsoft.com/office/drawing/2014/main" id="{286668B4-8BF3-1994-DEC7-50161B938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357" y="1700588"/>
            <a:ext cx="3533985" cy="353398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0597C9F8-88FA-0B3A-97C4-DF90958BF03D}"/>
              </a:ext>
            </a:extLst>
          </p:cNvPr>
          <p:cNvSpPr txBox="1">
            <a:spLocks/>
          </p:cNvSpPr>
          <p:nvPr/>
        </p:nvSpPr>
        <p:spPr>
          <a:xfrm>
            <a:off x="5255260" y="2998278"/>
            <a:ext cx="5540258" cy="272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Omer Metwally | Aspiring Data Analyst</a:t>
            </a:r>
          </a:p>
          <a:p>
            <a:r>
              <a:rPr lang="en-US" sz="2000" dirty="0"/>
              <a:t>Tools Used:</a:t>
            </a:r>
          </a:p>
          <a:p>
            <a:pPr lvl="1"/>
            <a:r>
              <a:rPr lang="en-US" sz="1800" dirty="0"/>
              <a:t>Excel</a:t>
            </a:r>
            <a:endParaRPr lang="en-US" sz="1600" dirty="0"/>
          </a:p>
          <a:p>
            <a:pPr lvl="1"/>
            <a:r>
              <a:rPr lang="en-US" sz="1800" dirty="0"/>
              <a:t>Power Bi</a:t>
            </a:r>
          </a:p>
          <a:p>
            <a:pPr lvl="2"/>
            <a:r>
              <a:rPr lang="en-US" sz="1600" dirty="0"/>
              <a:t>Power  Query</a:t>
            </a:r>
          </a:p>
          <a:p>
            <a:pPr lvl="2"/>
            <a:r>
              <a:rPr lang="en-US" sz="1600" dirty="0"/>
              <a:t>DAX</a:t>
            </a:r>
          </a:p>
          <a:p>
            <a:pPr lvl="2"/>
            <a:r>
              <a:rPr lang="en-US" sz="1600" dirty="0"/>
              <a:t>AI-Powered Visuals, Interactive Reporting Tools</a:t>
            </a:r>
          </a:p>
          <a:p>
            <a:pPr lvl="2"/>
            <a:endParaRPr lang="en-US" sz="1400" dirty="0"/>
          </a:p>
          <a:p>
            <a:r>
              <a:rPr lang="en-US" sz="2000" dirty="0"/>
              <a:t>Last Updated: </a:t>
            </a:r>
            <a:r>
              <a:rPr lang="en-US" sz="2000" b="1" dirty="0"/>
              <a:t>10.</a:t>
            </a:r>
            <a:r>
              <a:rPr lang="en-US" sz="2000" b="1" baseline="30000" dirty="0"/>
              <a:t>th</a:t>
            </a:r>
            <a:r>
              <a:rPr lang="en-US" sz="2000" b="1" dirty="0"/>
              <a:t> January 2026</a:t>
            </a:r>
          </a:p>
        </p:txBody>
      </p:sp>
    </p:spTree>
    <p:extLst>
      <p:ext uri="{BB962C8B-B14F-4D97-AF65-F5344CB8AC3E}">
        <p14:creationId xmlns:p14="http://schemas.microsoft.com/office/powerpoint/2010/main" val="376473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1303</Words>
  <Application>Microsoft Office PowerPoint</Application>
  <PresentationFormat>Widescreen</PresentationFormat>
  <Paragraphs>159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Wingdings</vt:lpstr>
      <vt:lpstr>Office Theme</vt:lpstr>
      <vt:lpstr>Medical Appointments 2016</vt:lpstr>
      <vt:lpstr>Table of Contents</vt:lpstr>
      <vt:lpstr>PowerPoint Presentation</vt:lpstr>
      <vt:lpstr>What are we talking about?</vt:lpstr>
      <vt:lpstr>PowerPoint Presentation</vt:lpstr>
      <vt:lpstr>The healthcare provider aims to analyze patient appointment data to identify where and how no-show behavior and revenue leakage are concentrated across different clinic locations, patient demographics, and scheduling logistics.  The analysis focuses on answering key business questions to uncover:  </vt:lpstr>
      <vt:lpstr>Data source </vt:lpstr>
      <vt:lpstr>PowerPoint Presentation</vt:lpstr>
      <vt:lpstr>Data cleaning summary</vt:lpstr>
      <vt:lpstr>PowerPoint Presentation</vt:lpstr>
      <vt:lpstr>PowerPoint Presentation</vt:lpstr>
      <vt:lpstr>The story with Data</vt:lpstr>
      <vt:lpstr>Identify The Highest Volume Of Missed Appointments.</vt:lpstr>
      <vt:lpstr>PowerPoint Presentation</vt:lpstr>
      <vt:lpstr>PowerPoint Presentation</vt:lpstr>
      <vt:lpstr>PowerPoint Presentation</vt:lpstr>
      <vt:lpstr>Identify Which Groups Are Causing The Highest Volume Of Missed Appointments.</vt:lpstr>
      <vt:lpstr>PowerPoint Presentation</vt:lpstr>
      <vt:lpstr>PowerPoint Presentation</vt:lpstr>
      <vt:lpstr>PowerPoint Presentation</vt:lpstr>
      <vt:lpstr>Identify Reasons That Are Causing The Highest Volume Of Missed Appointments.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Appointments Efficiency &amp; Resource Waste Analysis.</vt:lpstr>
      <vt:lpstr>PowerPoint Presentation</vt:lpstr>
      <vt:lpstr>PowerPoint Presentation</vt:lpstr>
      <vt:lpstr>PowerPoint Presentation</vt:lpstr>
      <vt:lpstr>PowerPoint Presentation</vt:lpstr>
      <vt:lpstr>Conclusion</vt:lpstr>
      <vt:lpstr>Strategic Insights.</vt:lpstr>
      <vt:lpstr>Strategic Insights.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omer metwally</dc:creator>
  <cp:lastModifiedBy>omer metwally</cp:lastModifiedBy>
  <cp:revision>35</cp:revision>
  <dcterms:created xsi:type="dcterms:W3CDTF">2025-10-07T19:27:15Z</dcterms:created>
  <dcterms:modified xsi:type="dcterms:W3CDTF">2026-01-10T22:57:22Z</dcterms:modified>
</cp:coreProperties>
</file>